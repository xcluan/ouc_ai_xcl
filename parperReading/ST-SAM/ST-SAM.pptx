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3.svg" ContentType="image/svg+xml"/>
  <Override PartName="/ppt/media/image35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sldIdLst>
    <p:sldId id="320" r:id="rId4"/>
    <p:sldId id="2053" r:id="rId6"/>
    <p:sldId id="2045" r:id="rId7"/>
    <p:sldId id="2056" r:id="rId8"/>
    <p:sldId id="2055" r:id="rId9"/>
    <p:sldId id="2057" r:id="rId10"/>
    <p:sldId id="2058" r:id="rId11"/>
    <p:sldId id="2059" r:id="rId12"/>
    <p:sldId id="2060" r:id="rId13"/>
    <p:sldId id="2061" r:id="rId14"/>
    <p:sldId id="2062" r:id="rId15"/>
    <p:sldId id="2063" r:id="rId16"/>
    <p:sldId id="2064" r:id="rId17"/>
    <p:sldId id="2065" r:id="rId18"/>
    <p:sldId id="2066" r:id="rId19"/>
    <p:sldId id="2067" r:id="rId20"/>
    <p:sldId id="2051" r:id="rId21"/>
    <p:sldId id="2068" r:id="rId22"/>
    <p:sldId id="2070" r:id="rId23"/>
    <p:sldId id="2071" r:id="rId24"/>
    <p:sldId id="2072" r:id="rId25"/>
    <p:sldId id="2052" r:id="rId26"/>
    <p:sldId id="1956" r:id="rId27"/>
  </p:sldIdLst>
  <p:sldSz cx="12192000" cy="6858000"/>
  <p:notesSz cx="6858000" cy="9144000"/>
  <p:custDataLst>
    <p:tags r:id="rId3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785F60-A3F4-448B-89C7-9E0CBFF40BD5}">
          <p14:sldIdLst>
            <p14:sldId id="320"/>
            <p14:sldId id="2053"/>
            <p14:sldId id="2045"/>
            <p14:sldId id="2056"/>
            <p14:sldId id="2055"/>
            <p14:sldId id="2057"/>
            <p14:sldId id="2058"/>
            <p14:sldId id="2059"/>
            <p14:sldId id="2060"/>
            <p14:sldId id="2061"/>
            <p14:sldId id="2062"/>
            <p14:sldId id="2063"/>
            <p14:sldId id="2064"/>
            <p14:sldId id="2065"/>
            <p14:sldId id="2066"/>
            <p14:sldId id="2067"/>
            <p14:sldId id="2051"/>
            <p14:sldId id="2068"/>
            <p14:sldId id="2070"/>
            <p14:sldId id="2071"/>
            <p14:sldId id="2072"/>
            <p14:sldId id="2052"/>
            <p14:sldId id="1956"/>
          </p14:sldIdLst>
        </p14:section>
        <p14:section name="Untitled Section" id="{CA97A2A8-EFDF-47EA-B27B-488081575E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EAC"/>
    <a:srgbClr val="BBE0E3"/>
    <a:srgbClr val="004B9E"/>
    <a:srgbClr val="065AAC"/>
    <a:srgbClr val="FF3300"/>
    <a:srgbClr val="666633"/>
    <a:srgbClr val="CC6600"/>
    <a:srgbClr val="EAEAEA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4" autoAdjust="0"/>
    <p:restoredTop sz="81536" autoAdjust="0"/>
  </p:normalViewPr>
  <p:slideViewPr>
    <p:cSldViewPr showGuides="1">
      <p:cViewPr varScale="1">
        <p:scale>
          <a:sx n="102" d="100"/>
          <a:sy n="102" d="100"/>
        </p:scale>
        <p:origin x="1373" y="72"/>
      </p:cViewPr>
      <p:guideLst>
        <p:guide orient="horz" pos="228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gs" Target="tags/tag38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9F9AB73-557D-4584-9453-DF423891EF0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F9AB73-557D-4584-9453-DF423891EF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F9AB73-557D-4584-9453-DF423891EF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3B463A-BCDB-4FA1-AF92-E238CA80BA0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F9AB73-557D-4584-9453-DF423891EF0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3448" y="80964"/>
            <a:ext cx="912055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1371601"/>
            <a:ext cx="10871200" cy="47545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 idx="10"/>
          </p:nvPr>
        </p:nvSpPr>
        <p:spPr bwMode="auto">
          <a:xfrm>
            <a:off x="23448" y="80964"/>
            <a:ext cx="912055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 lang="zh-CN"/>
          </a:p>
          <a:p>
            <a:pPr lvl="1">
              <a:defRPr/>
            </a:pPr>
            <a:r>
              <a:rPr lang="zh-CN"/>
              <a:t>Second level</a:t>
            </a:r>
            <a:endParaRPr lang="zh-CN"/>
          </a:p>
          <a:p>
            <a:pPr lvl="2">
              <a:defRPr/>
            </a:pPr>
            <a:r>
              <a:rPr lang="zh-CN"/>
              <a:t>Third level</a:t>
            </a:r>
            <a:endParaRPr lang="zh-CN"/>
          </a:p>
          <a:p>
            <a:pPr lvl="3">
              <a:defRPr/>
            </a:pPr>
            <a:r>
              <a:rPr lang="zh-CN"/>
              <a:t>Fourth level</a:t>
            </a:r>
            <a:endParaRPr lang="zh-CN"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 altLang="zh-CN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 altLang="zh-CN"/>
            </a:fld>
            <a:endParaRPr 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68580"/>
            <a:ext cx="12192000" cy="671830"/>
            <a:chOff x="7" y="123"/>
            <a:chExt cx="14367" cy="105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1640" y="1181"/>
              <a:ext cx="1273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任意多边形 27"/>
            <p:cNvSpPr/>
            <p:nvPr/>
          </p:nvSpPr>
          <p:spPr>
            <a:xfrm>
              <a:off x="7" y="123"/>
              <a:ext cx="1811" cy="1058"/>
            </a:xfrm>
            <a:custGeom>
              <a:avLst/>
              <a:gdLst/>
              <a:ahLst/>
              <a:cxnLst>
                <a:cxn ang="0">
                  <a:pos x="0" y="3107351"/>
                </a:cxn>
                <a:cxn ang="0">
                  <a:pos x="0" y="0"/>
                </a:cxn>
                <a:cxn ang="0">
                  <a:pos x="1712334" y="0"/>
                </a:cxn>
                <a:cxn ang="0">
                  <a:pos x="1712350" y="0"/>
                </a:cxn>
                <a:cxn ang="0">
                  <a:pos x="2378829" y="0"/>
                </a:cxn>
                <a:cxn ang="0">
                  <a:pos x="2685789" y="0"/>
                </a:cxn>
                <a:cxn ang="0">
                  <a:pos x="2685805" y="0"/>
                </a:cxn>
                <a:cxn ang="0">
                  <a:pos x="3352284" y="0"/>
                </a:cxn>
                <a:cxn ang="0">
                  <a:pos x="3441643" y="0"/>
                </a:cxn>
                <a:cxn ang="0">
                  <a:pos x="3441661" y="0"/>
                </a:cxn>
                <a:cxn ang="0">
                  <a:pos x="4415098" y="0"/>
                </a:cxn>
                <a:cxn ang="0">
                  <a:pos x="4415116" y="0"/>
                </a:cxn>
                <a:cxn ang="0">
                  <a:pos x="4467538" y="5284"/>
                </a:cxn>
                <a:cxn ang="0">
                  <a:pos x="4585361" y="63439"/>
                </a:cxn>
                <a:cxn ang="0">
                  <a:pos x="4613975" y="92744"/>
                </a:cxn>
                <a:cxn ang="0">
                  <a:pos x="4615860" y="94672"/>
                </a:cxn>
                <a:cxn ang="0">
                  <a:pos x="5289000" y="1421429"/>
                </a:cxn>
                <a:cxn ang="0">
                  <a:pos x="5307988" y="1459403"/>
                </a:cxn>
                <a:cxn ang="0">
                  <a:pos x="5320976" y="1501244"/>
                </a:cxn>
                <a:cxn ang="0">
                  <a:pos x="5326262" y="1553677"/>
                </a:cxn>
                <a:cxn ang="0">
                  <a:pos x="5320976" y="1606107"/>
                </a:cxn>
                <a:cxn ang="0">
                  <a:pos x="5307988" y="1647949"/>
                </a:cxn>
                <a:cxn ang="0">
                  <a:pos x="5289000" y="1685923"/>
                </a:cxn>
                <a:cxn ang="0">
                  <a:pos x="4640798" y="2976690"/>
                </a:cxn>
                <a:cxn ang="0">
                  <a:pos x="4467538" y="3102067"/>
                </a:cxn>
                <a:cxn ang="0">
                  <a:pos x="4415116" y="3107351"/>
                </a:cxn>
                <a:cxn ang="0">
                  <a:pos x="4415098" y="3107351"/>
                </a:cxn>
                <a:cxn ang="0">
                  <a:pos x="3441661" y="3107351"/>
                </a:cxn>
                <a:cxn ang="0">
                  <a:pos x="3441643" y="3107351"/>
                </a:cxn>
                <a:cxn ang="0">
                  <a:pos x="3352284" y="3107351"/>
                </a:cxn>
                <a:cxn ang="0">
                  <a:pos x="2685805" y="3107351"/>
                </a:cxn>
                <a:cxn ang="0">
                  <a:pos x="2685787" y="3107351"/>
                </a:cxn>
                <a:cxn ang="0">
                  <a:pos x="2378829" y="3107351"/>
                </a:cxn>
                <a:cxn ang="0">
                  <a:pos x="1712350" y="3107351"/>
                </a:cxn>
                <a:cxn ang="0">
                  <a:pos x="1712333" y="3107351"/>
                </a:cxn>
                <a:cxn ang="0">
                  <a:pos x="0" y="3107351"/>
                </a:cxn>
              </a:cxnLst>
              <a:rect l="0" t="0" r="0" b="0"/>
              <a:pathLst>
                <a:path w="5326262" h="3107351">
                  <a:moveTo>
                    <a:pt x="0" y="3107351"/>
                  </a:moveTo>
                  <a:lnTo>
                    <a:pt x="0" y="0"/>
                  </a:lnTo>
                  <a:lnTo>
                    <a:pt x="1712334" y="0"/>
                  </a:lnTo>
                  <a:lnTo>
                    <a:pt x="1712350" y="0"/>
                  </a:lnTo>
                  <a:lnTo>
                    <a:pt x="2378829" y="0"/>
                  </a:lnTo>
                  <a:lnTo>
                    <a:pt x="2685789" y="0"/>
                  </a:lnTo>
                  <a:lnTo>
                    <a:pt x="2685805" y="0"/>
                  </a:lnTo>
                  <a:lnTo>
                    <a:pt x="3352284" y="0"/>
                  </a:lnTo>
                  <a:lnTo>
                    <a:pt x="3441643" y="0"/>
                  </a:lnTo>
                  <a:lnTo>
                    <a:pt x="3441661" y="0"/>
                  </a:lnTo>
                  <a:lnTo>
                    <a:pt x="4415098" y="0"/>
                  </a:lnTo>
                  <a:lnTo>
                    <a:pt x="4415116" y="0"/>
                  </a:lnTo>
                  <a:lnTo>
                    <a:pt x="4467538" y="5284"/>
                  </a:lnTo>
                  <a:cubicBezTo>
                    <a:pt x="4511994" y="14382"/>
                    <a:pt x="4552322" y="34818"/>
                    <a:pt x="4585361" y="63439"/>
                  </a:cubicBezTo>
                  <a:lnTo>
                    <a:pt x="4613975" y="92744"/>
                  </a:lnTo>
                  <a:lnTo>
                    <a:pt x="4615860" y="94672"/>
                  </a:lnTo>
                  <a:lnTo>
                    <a:pt x="5289000" y="1421429"/>
                  </a:lnTo>
                  <a:lnTo>
                    <a:pt x="5307988" y="1459403"/>
                  </a:lnTo>
                  <a:lnTo>
                    <a:pt x="5320976" y="1501244"/>
                  </a:lnTo>
                  <a:cubicBezTo>
                    <a:pt x="5324442" y="1518180"/>
                    <a:pt x="5326262" y="1535716"/>
                    <a:pt x="5326262" y="1553677"/>
                  </a:cubicBezTo>
                  <a:cubicBezTo>
                    <a:pt x="5326262" y="1571635"/>
                    <a:pt x="5324442" y="1589171"/>
                    <a:pt x="5320976" y="1606107"/>
                  </a:cubicBezTo>
                  <a:lnTo>
                    <a:pt x="5307988" y="1647949"/>
                  </a:lnTo>
                  <a:lnTo>
                    <a:pt x="5289000" y="1685923"/>
                  </a:lnTo>
                  <a:lnTo>
                    <a:pt x="4640798" y="2976690"/>
                  </a:lnTo>
                  <a:cubicBezTo>
                    <a:pt x="4604252" y="3040246"/>
                    <a:pt x="4541632" y="3086905"/>
                    <a:pt x="4467538" y="3102067"/>
                  </a:cubicBezTo>
                  <a:lnTo>
                    <a:pt x="4415116" y="3107351"/>
                  </a:lnTo>
                  <a:lnTo>
                    <a:pt x="4415098" y="3107351"/>
                  </a:lnTo>
                  <a:lnTo>
                    <a:pt x="3441661" y="3107351"/>
                  </a:lnTo>
                  <a:lnTo>
                    <a:pt x="3441643" y="3107351"/>
                  </a:lnTo>
                  <a:lnTo>
                    <a:pt x="3352284" y="3107351"/>
                  </a:lnTo>
                  <a:lnTo>
                    <a:pt x="2685805" y="3107351"/>
                  </a:lnTo>
                  <a:lnTo>
                    <a:pt x="2685787" y="3107351"/>
                  </a:lnTo>
                  <a:lnTo>
                    <a:pt x="2378829" y="3107351"/>
                  </a:lnTo>
                  <a:lnTo>
                    <a:pt x="1712350" y="3107351"/>
                  </a:lnTo>
                  <a:lnTo>
                    <a:pt x="1712333" y="3107351"/>
                  </a:lnTo>
                  <a:lnTo>
                    <a:pt x="0" y="3107351"/>
                  </a:lnTo>
                  <a:close/>
                </a:path>
              </a:pathLst>
            </a:custGeom>
            <a:solidFill>
              <a:srgbClr val="004B9E"/>
            </a:solidFill>
            <a:ln w="76200">
              <a:noFill/>
            </a:ln>
          </p:spPr>
          <p:txBody>
            <a:bodyPr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82880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3448" y="80964"/>
            <a:ext cx="912055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784075" y="152400"/>
            <a:ext cx="1950725" cy="5334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0" y="865189"/>
            <a:ext cx="12192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0" y="6629400"/>
            <a:ext cx="12192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>
                <a:solidFill>
                  <a:schemeClr val="bg1"/>
                </a:solidFill>
              </a:rPr>
              <a:t>中国海洋大学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84075" y="152400"/>
            <a:ext cx="1950725" cy="533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21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5.sv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3" Type="http://schemas.openxmlformats.org/officeDocument/2006/relationships/notesSlide" Target="../notesSlides/notesSlide22.xml"/><Relationship Id="rId32" Type="http://schemas.openxmlformats.org/officeDocument/2006/relationships/slideLayout" Target="../slideLayouts/slideLayout5.xml"/><Relationship Id="rId31" Type="http://schemas.openxmlformats.org/officeDocument/2006/relationships/tags" Target="../tags/tag37.xml"/><Relationship Id="rId30" Type="http://schemas.openxmlformats.org/officeDocument/2006/relationships/tags" Target="../tags/tag36.xml"/><Relationship Id="rId3" Type="http://schemas.openxmlformats.org/officeDocument/2006/relationships/image" Target="../media/image5.svg"/><Relationship Id="rId29" Type="http://schemas.openxmlformats.org/officeDocument/2006/relationships/image" Target="../media/image50.svg"/><Relationship Id="rId28" Type="http://schemas.openxmlformats.org/officeDocument/2006/relationships/image" Target="../media/image49.png"/><Relationship Id="rId27" Type="http://schemas.openxmlformats.org/officeDocument/2006/relationships/tags" Target="../tags/tag35.xml"/><Relationship Id="rId26" Type="http://schemas.openxmlformats.org/officeDocument/2006/relationships/tags" Target="../tags/tag34.xml"/><Relationship Id="rId25" Type="http://schemas.openxmlformats.org/officeDocument/2006/relationships/tags" Target="../tags/tag33.xml"/><Relationship Id="rId24" Type="http://schemas.openxmlformats.org/officeDocument/2006/relationships/image" Target="../media/image48.svg"/><Relationship Id="rId23" Type="http://schemas.openxmlformats.org/officeDocument/2006/relationships/image" Target="../media/image47.png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image" Target="../media/image4.png"/><Relationship Id="rId19" Type="http://schemas.openxmlformats.org/officeDocument/2006/relationships/image" Target="../media/image46.svg"/><Relationship Id="rId18" Type="http://schemas.openxmlformats.org/officeDocument/2006/relationships/image" Target="../media/image45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echatIMG7775"/>
          <p:cNvPicPr>
            <a:picLocks noChangeAspect="1"/>
          </p:cNvPicPr>
          <p:nvPr/>
        </p:nvPicPr>
        <p:blipFill>
          <a:blip r:embed="rId1" cstate="print"/>
          <a:srcRect t="36370" b="9555"/>
          <a:stretch>
            <a:fillRect/>
          </a:stretch>
        </p:blipFill>
        <p:spPr>
          <a:xfrm>
            <a:off x="1524000" y="1029837"/>
            <a:ext cx="9144000" cy="2016456"/>
          </a:xfrm>
          <a:prstGeom prst="rect">
            <a:avLst/>
          </a:prstGeom>
        </p:spPr>
      </p:pic>
      <p:grpSp>
        <p:nvGrpSpPr>
          <p:cNvPr id="2" name="组合 4"/>
          <p:cNvGrpSpPr/>
          <p:nvPr/>
        </p:nvGrpSpPr>
        <p:grpSpPr>
          <a:xfrm>
            <a:off x="5673437" y="2438400"/>
            <a:ext cx="845126" cy="872220"/>
            <a:chOff x="4309745" y="1529873"/>
            <a:chExt cx="1594000" cy="1584960"/>
          </a:xfrm>
        </p:grpSpPr>
        <p:sp>
          <p:nvSpPr>
            <p:cNvPr id="6" name="椭圆 5"/>
            <p:cNvSpPr/>
            <p:nvPr/>
          </p:nvSpPr>
          <p:spPr>
            <a:xfrm>
              <a:off x="4309745" y="1529873"/>
              <a:ext cx="1584960" cy="1584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076"/>
            <a:stretch>
              <a:fillRect/>
            </a:stretch>
          </p:blipFill>
          <p:spPr>
            <a:xfrm>
              <a:off x="4318786" y="1572656"/>
              <a:ext cx="1584959" cy="1499394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762000" y="3448050"/>
            <a:ext cx="10600055" cy="1965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 latinLnBrk="0"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ST-SAM: SAM-Driven Self-Training Framework for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Semi-Supervised Camouflaged Object Detection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150000"/>
              </a:lnSpc>
            </a:pPr>
            <a:endParaRPr lang="en-US" altLang="zh-CN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851119" y="5014889"/>
            <a:ext cx="242146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CVPR 2025</a:t>
            </a:r>
            <a:endParaRPr lang="en-US" altLang="zh-CN" sz="2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887314" y="5574959"/>
            <a:ext cx="242146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汇报人：许传銮</a:t>
            </a:r>
            <a:endParaRPr lang="zh-CN" altLang="en-US" sz="200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/>
          <p:cNvSpPr/>
          <p:nvPr/>
        </p:nvSpPr>
        <p:spPr>
          <a:xfrm>
            <a:off x="457200" y="1524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25" name="AutoShape 4"/>
          <p:cNvSpPr/>
          <p:nvPr>
            <p:custDataLst>
              <p:tags r:id="rId1"/>
            </p:custDataLst>
          </p:nvPr>
        </p:nvSpPr>
        <p:spPr>
          <a:xfrm>
            <a:off x="1219200" y="14478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6" name="AutoShape 5"/>
          <p:cNvSpPr/>
          <p:nvPr>
            <p:custDataLst>
              <p:tags r:id="rId2"/>
            </p:custDataLst>
          </p:nvPr>
        </p:nvSpPr>
        <p:spPr>
          <a:xfrm>
            <a:off x="1981200" y="14478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</a:t>
            </a:r>
            <a:endParaRPr lang="en-US" sz="1100"/>
          </a:p>
        </p:txBody>
      </p:sp>
      <p:sp>
        <p:nvSpPr>
          <p:cNvPr id="27" name="AutoShape 6"/>
          <p:cNvSpPr/>
          <p:nvPr>
            <p:custDataLst>
              <p:tags r:id="rId3"/>
            </p:custDataLst>
          </p:nvPr>
        </p:nvSpPr>
        <p:spPr>
          <a:xfrm>
            <a:off x="1981200" y="1828800"/>
            <a:ext cx="914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伪装目标检测与半监督学习</a:t>
            </a:r>
            <a:endParaRPr lang="en-US" sz="1100"/>
          </a:p>
        </p:txBody>
      </p:sp>
      <p:sp>
        <p:nvSpPr>
          <p:cNvPr id="28" name="AutoShape 7"/>
          <p:cNvSpPr/>
          <p:nvPr>
            <p:custDataLst>
              <p:tags r:id="rId4"/>
            </p:custDataLst>
          </p:nvPr>
        </p:nvSpPr>
        <p:spPr>
          <a:xfrm>
            <a:off x="1219200" y="24638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9" name="AutoShape 8"/>
          <p:cNvSpPr/>
          <p:nvPr>
            <p:custDataLst>
              <p:tags r:id="rId5"/>
            </p:custDataLst>
          </p:nvPr>
        </p:nvSpPr>
        <p:spPr>
          <a:xfrm>
            <a:off x="1981200" y="24638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ST-SAM方法</a:t>
            </a:r>
            <a:endParaRPr lang="en-US" sz="1100"/>
          </a:p>
        </p:txBody>
      </p:sp>
      <p:sp>
        <p:nvSpPr>
          <p:cNvPr id="30" name="AutoShape 9"/>
          <p:cNvSpPr/>
          <p:nvPr>
            <p:custDataLst>
              <p:tags r:id="rId6"/>
            </p:custDataLst>
          </p:nvPr>
        </p:nvSpPr>
        <p:spPr>
          <a:xfrm>
            <a:off x="1981200" y="2844800"/>
            <a:ext cx="914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提出的自训练框架与核心模块</a:t>
            </a:r>
            <a:endParaRPr lang="en-US" sz="1100"/>
          </a:p>
        </p:txBody>
      </p:sp>
      <p:sp>
        <p:nvSpPr>
          <p:cNvPr id="31" name="AutoShape 10"/>
          <p:cNvSpPr/>
          <p:nvPr>
            <p:custDataLst>
              <p:tags r:id="rId7"/>
            </p:custDataLst>
          </p:nvPr>
        </p:nvSpPr>
        <p:spPr>
          <a:xfrm>
            <a:off x="1219200" y="34798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2" name="AutoShape 11"/>
          <p:cNvSpPr/>
          <p:nvPr>
            <p:custDataLst>
              <p:tags r:id="rId8"/>
            </p:custDataLst>
          </p:nvPr>
        </p:nvSpPr>
        <p:spPr>
          <a:xfrm>
            <a:off x="1981200" y="34798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</a:t>
            </a:r>
            <a:endParaRPr lang="en-US" sz="1100"/>
          </a:p>
        </p:txBody>
      </p:sp>
      <p:sp>
        <p:nvSpPr>
          <p:cNvPr id="33" name="AutoShape 12"/>
          <p:cNvSpPr/>
          <p:nvPr>
            <p:custDataLst>
              <p:tags r:id="rId9"/>
            </p:custDataLst>
          </p:nvPr>
        </p:nvSpPr>
        <p:spPr>
          <a:xfrm>
            <a:off x="1981200" y="3860800"/>
            <a:ext cx="914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对比实验与消融</a:t>
            </a:r>
            <a:r>
              <a:rPr lang="zh-CN" altLang="en-US" sz="1400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</a:t>
            </a:r>
            <a:endParaRPr lang="zh-CN" altLang="en-US" sz="1400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13"/>
          <p:cNvSpPr/>
          <p:nvPr>
            <p:custDataLst>
              <p:tags r:id="rId10"/>
            </p:custDataLst>
          </p:nvPr>
        </p:nvSpPr>
        <p:spPr>
          <a:xfrm>
            <a:off x="1219200" y="44958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5" name="AutoShape 14"/>
          <p:cNvSpPr/>
          <p:nvPr>
            <p:custDataLst>
              <p:tags r:id="rId11"/>
            </p:custDataLst>
          </p:nvPr>
        </p:nvSpPr>
        <p:spPr>
          <a:xfrm>
            <a:off x="1981200" y="44958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zh-CN" altLang="en-US" sz="1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5"/>
          <p:cNvSpPr/>
          <p:nvPr>
            <p:custDataLst>
              <p:tags r:id="rId12"/>
            </p:custDataLst>
          </p:nvPr>
        </p:nvSpPr>
        <p:spPr>
          <a:xfrm>
            <a:off x="1981200" y="4876800"/>
            <a:ext cx="914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主要贡献总结与</a:t>
            </a:r>
            <a:r>
              <a:rPr lang="zh-CN" altLang="en-US" sz="14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zh-CN" altLang="en-US" sz="1400" b="0" i="0" u="none" strike="noStrike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x-none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引言</a:t>
              </a:r>
              <a:endParaRPr kumimoji="0" lang="zh-CN" altLang="x-none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1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7" name="AutoShape 5"/>
          <p:cNvSpPr/>
          <p:nvPr/>
        </p:nvSpPr>
        <p:spPr>
          <a:xfrm>
            <a:off x="1524000" y="1854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任务定义</a:t>
            </a:r>
            <a:endParaRPr lang="en-US" sz="1100"/>
          </a:p>
        </p:txBody>
      </p:sp>
      <p:sp>
        <p:nvSpPr>
          <p:cNvPr id="8" name="AutoShape 6"/>
          <p:cNvSpPr/>
          <p:nvPr/>
        </p:nvSpPr>
        <p:spPr>
          <a:xfrm>
            <a:off x="1524000" y="22098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在复杂场景中精确地定位和分割与背景高度相似的伪装目标。</a:t>
            </a:r>
            <a:endParaRPr lang="en-US" sz="1100"/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11" name="AutoShape 8"/>
          <p:cNvSpPr/>
          <p:nvPr/>
        </p:nvSpPr>
        <p:spPr>
          <a:xfrm>
            <a:off x="1524000" y="2997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</a:t>
            </a:r>
            <a:endParaRPr lang="en-US" sz="1100"/>
          </a:p>
        </p:txBody>
      </p:sp>
      <p:sp>
        <p:nvSpPr>
          <p:cNvPr id="12" name="AutoShape 9"/>
          <p:cNvSpPr/>
          <p:nvPr/>
        </p:nvSpPr>
        <p:spPr>
          <a:xfrm>
            <a:off x="1524000" y="33528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纹理相似性、轮廓复杂性及目标尺度变化大，导致检测难度极高。</a:t>
            </a:r>
            <a:endParaRPr lang="en-US" sz="1100"/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54500"/>
            <a:ext cx="304800" cy="304800"/>
          </a:xfrm>
          <a:prstGeom prst="rect">
            <a:avLst/>
          </a:prstGeom>
        </p:spPr>
      </p:pic>
      <p:sp>
        <p:nvSpPr>
          <p:cNvPr id="14" name="AutoShape 11"/>
          <p:cNvSpPr/>
          <p:nvPr/>
        </p:nvSpPr>
        <p:spPr>
          <a:xfrm>
            <a:off x="1524000" y="4267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5" name="AutoShape 12"/>
          <p:cNvSpPr/>
          <p:nvPr/>
        </p:nvSpPr>
        <p:spPr>
          <a:xfrm>
            <a:off x="1524000" y="46228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在军事侦察、野生动物保护、智能安防等领域具有重要应用。</a:t>
            </a:r>
            <a:endParaRPr lang="en-US" sz="1100"/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7" name="AutoShape 14"/>
          <p:cNvSpPr/>
          <p:nvPr/>
        </p:nvSpPr>
        <p:spPr>
          <a:xfrm>
            <a:off x="1524000" y="5283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数据瓶颈</a:t>
            </a:r>
            <a:endParaRPr lang="en-US" sz="1100"/>
          </a:p>
        </p:txBody>
      </p:sp>
      <p:sp>
        <p:nvSpPr>
          <p:cNvPr id="18" name="AutoShape 15"/>
          <p:cNvSpPr/>
          <p:nvPr/>
        </p:nvSpPr>
        <p:spPr>
          <a:xfrm>
            <a:off x="1524000" y="56388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高质量像素级标注数据稀缺，限制了研究的深入发展。</a:t>
            </a:r>
            <a:endParaRPr lang="en-US" sz="1100"/>
          </a:p>
        </p:txBody>
      </p:sp>
      <p:cxnSp>
        <p:nvCxnSpPr>
          <p:cNvPr id="19" name="Connector 16"/>
          <p:cNvCxnSpPr/>
          <p:nvPr/>
        </p:nvCxnSpPr>
        <p:spPr>
          <a:xfrm rot="5389422">
            <a:off x="4214495" y="38989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18"/>
          <p:cNvSpPr/>
          <p:nvPr/>
        </p:nvSpPr>
        <p:spPr>
          <a:xfrm>
            <a:off x="6795770" y="5257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图示：竹节虫完美融入环境，展示</a:t>
            </a:r>
            <a:r>
              <a:rPr lang="zh-CN" alt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COD任务的挑战性</a:t>
            </a:r>
            <a:endParaRPr lang="en-US" sz="1100"/>
          </a:p>
        </p:txBody>
      </p:sp>
      <p:sp>
        <p:nvSpPr>
          <p:cNvPr id="22" name="文本框 21"/>
          <p:cNvSpPr txBox="1"/>
          <p:nvPr/>
        </p:nvSpPr>
        <p:spPr>
          <a:xfrm>
            <a:off x="693420" y="1137285"/>
            <a:ext cx="66401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伪装目标检测（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Camouflaged Object Detection, COD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3" name="图片 22" descr="7A20576C1CD54A40815AF87E2FF6F9E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5770" y="1905000"/>
            <a:ext cx="4380230" cy="328549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x-none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引言</a:t>
              </a:r>
              <a:endParaRPr kumimoji="0" lang="zh-CN" altLang="x-none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1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693420" y="1137285"/>
            <a:ext cx="66401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半监督（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Semi-Supervised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SS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37310" y="1828800"/>
            <a:ext cx="684911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现有的基于师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⽣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SSCOD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⽅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法在监督信息稀缺的情况下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存在严重的预测偏差和误差传播问题。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其多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⽹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络架构会导致较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⾼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的计算开销和有限的可扩展性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3420" y="3352800"/>
            <a:ext cx="66401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主要贡献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95400" y="4038600"/>
            <a:ext cx="894778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ST-SAM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框架，采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⽤⾃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训练策略，根本上规避了模型间的预测偏差。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的设计还利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⽤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在特定任务中的潜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⼒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，以减轻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⾃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训练的误差累积。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7200" y="990600"/>
            <a:ext cx="5334000" cy="482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模型整体框架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1016000" y="177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核心策略与组成</a:t>
            </a:r>
            <a:endParaRPr lang="en-US" sz="1100"/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36800"/>
            <a:ext cx="304800" cy="304800"/>
          </a:xfrm>
          <a:prstGeom prst="rect">
            <a:avLst/>
          </a:prstGeom>
        </p:spPr>
      </p:pic>
      <p:sp>
        <p:nvSpPr>
          <p:cNvPr id="8" name="AutoShape 6"/>
          <p:cNvSpPr/>
          <p:nvPr/>
        </p:nvSpPr>
        <p:spPr>
          <a:xfrm>
            <a:off x="1473200" y="23368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 网络 (Net)</a:t>
            </a:r>
            <a:endParaRPr lang="en-US" sz="1100"/>
          </a:p>
        </p:txBody>
      </p:sp>
      <p:sp>
        <p:nvSpPr>
          <p:cNvPr id="10" name="AutoShape 7"/>
          <p:cNvSpPr/>
          <p:nvPr/>
        </p:nvSpPr>
        <p:spPr>
          <a:xfrm>
            <a:off x="1473200" y="2692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基础的编码器-解码器结构，用于学习伪装目标检测任务。</a:t>
            </a:r>
            <a:endParaRPr lang="en-US" sz="1100"/>
          </a:p>
        </p:txBody>
      </p:sp>
      <p:pic>
        <p:nvPicPr>
          <p:cNvPr id="11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05200"/>
            <a:ext cx="304800" cy="304800"/>
          </a:xfrm>
          <a:prstGeom prst="rect">
            <a:avLst/>
          </a:prstGeom>
        </p:spPr>
      </p:pic>
      <p:sp>
        <p:nvSpPr>
          <p:cNvPr id="12" name="AutoShape 9"/>
          <p:cNvSpPr/>
          <p:nvPr/>
        </p:nvSpPr>
        <p:spPr>
          <a:xfrm>
            <a:off x="1473200" y="35052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熵动态过滤 (EDF)</a:t>
            </a:r>
            <a:endParaRPr lang="en-US" sz="1100"/>
          </a:p>
        </p:txBody>
      </p:sp>
      <p:sp>
        <p:nvSpPr>
          <p:cNvPr id="13" name="AutoShape 10"/>
          <p:cNvSpPr/>
          <p:nvPr/>
        </p:nvSpPr>
        <p:spPr>
          <a:xfrm>
            <a:off x="1473200" y="38608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清洗并动态扩展初始伪标签，确保训练数据质量。</a:t>
            </a:r>
            <a:endParaRPr lang="en-US" sz="1100"/>
          </a:p>
        </p:txBody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73600"/>
            <a:ext cx="304800" cy="304800"/>
          </a:xfrm>
          <a:prstGeom prst="rect">
            <a:avLst/>
          </a:prstGeom>
        </p:spPr>
      </p:pic>
      <p:sp>
        <p:nvSpPr>
          <p:cNvPr id="15" name="AutoShape 12"/>
          <p:cNvSpPr/>
          <p:nvPr/>
        </p:nvSpPr>
        <p:spPr>
          <a:xfrm>
            <a:off x="1473200" y="4673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领域提示引导 (DPC)</a:t>
            </a:r>
            <a:endParaRPr lang="en-US" sz="1100"/>
          </a:p>
        </p:txBody>
      </p:sp>
      <p:sp>
        <p:nvSpPr>
          <p:cNvPr id="16" name="AutoShape 13"/>
          <p:cNvSpPr/>
          <p:nvPr/>
        </p:nvSpPr>
        <p:spPr>
          <a:xfrm>
            <a:off x="1473200" y="50292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将伪标签转化为提示，引导SAM生成高质量标签并相互校正。</a:t>
            </a:r>
            <a:endParaRPr lang="en-US" sz="1100"/>
          </a:p>
        </p:txBody>
      </p:sp>
      <p:cxnSp>
        <p:nvCxnSpPr>
          <p:cNvPr id="17" name="Connector 14"/>
          <p:cNvCxnSpPr/>
          <p:nvPr/>
        </p:nvCxnSpPr>
        <p:spPr>
          <a:xfrm rot="5388540">
            <a:off x="3937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5"/>
          <p:cNvSpPr/>
          <p:nvPr/>
        </p:nvSpPr>
        <p:spPr>
          <a:xfrm>
            <a:off x="6223000" y="1778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模型架构图</a:t>
            </a:r>
            <a:endParaRPr lang="en-US" sz="1100"/>
          </a:p>
        </p:txBody>
      </p:sp>
      <p:pic>
        <p:nvPicPr>
          <p:cNvPr id="20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0" y="5105400"/>
            <a:ext cx="254000" cy="254000"/>
          </a:xfrm>
          <a:prstGeom prst="rect">
            <a:avLst/>
          </a:prstGeom>
        </p:spPr>
      </p:pic>
      <p:sp>
        <p:nvSpPr>
          <p:cNvPr id="21" name="AutoShape 18"/>
          <p:cNvSpPr/>
          <p:nvPr/>
        </p:nvSpPr>
        <p:spPr>
          <a:xfrm>
            <a:off x="6705600" y="51054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SAM角色: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作为外部强大的分割引擎，提供高质量监督信号。</a:t>
            </a:r>
            <a:endParaRPr lang="en-US" sz="1100"/>
          </a:p>
        </p:txBody>
      </p:sp>
      <p:pic>
        <p:nvPicPr>
          <p:cNvPr id="22" name="图片 21" descr="ST-SAM"/>
          <p:cNvPicPr>
            <a:picLocks noChangeAspect="1"/>
          </p:cNvPicPr>
          <p:nvPr/>
        </p:nvPicPr>
        <p:blipFill>
          <a:blip r:embed="rId9"/>
          <a:srcRect l="11872" r="13391"/>
          <a:stretch>
            <a:fillRect/>
          </a:stretch>
        </p:blipFill>
        <p:spPr>
          <a:xfrm>
            <a:off x="6223000" y="2218055"/>
            <a:ext cx="5361940" cy="28797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2" name="AutoShape 4"/>
          <p:cNvSpPr/>
          <p:nvPr/>
        </p:nvSpPr>
        <p:spPr>
          <a:xfrm>
            <a:off x="1016000" y="17780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032000"/>
            <a:ext cx="406400" cy="406400"/>
          </a:xfrm>
          <a:prstGeom prst="rect">
            <a:avLst/>
          </a:prstGeom>
        </p:spPr>
      </p:pic>
      <p:sp>
        <p:nvSpPr>
          <p:cNvPr id="23" name="AutoShape 6"/>
          <p:cNvSpPr/>
          <p:nvPr/>
        </p:nvSpPr>
        <p:spPr>
          <a:xfrm>
            <a:off x="1879600" y="20828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计算局部与全局熵</a:t>
            </a:r>
            <a:endParaRPr lang="en-US" sz="1100"/>
          </a:p>
        </p:txBody>
      </p:sp>
      <p:sp>
        <p:nvSpPr>
          <p:cNvPr id="24" name="AutoShape 7"/>
          <p:cNvSpPr/>
          <p:nvPr/>
        </p:nvSpPr>
        <p:spPr>
          <a:xfrm>
            <a:off x="1879600" y="24892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量化每个像素及其邻域的预测不确定性，熵值越高不确定性越大。</a:t>
            </a:r>
            <a:endParaRPr lang="en-US" sz="1100"/>
          </a:p>
        </p:txBody>
      </p:sp>
      <p:sp>
        <p:nvSpPr>
          <p:cNvPr id="25" name="AutoShape 8"/>
          <p:cNvSpPr/>
          <p:nvPr/>
        </p:nvSpPr>
        <p:spPr>
          <a:xfrm>
            <a:off x="6350000" y="17780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032000"/>
            <a:ext cx="406400" cy="406400"/>
          </a:xfrm>
          <a:prstGeom prst="rect">
            <a:avLst/>
          </a:prstGeom>
        </p:spPr>
      </p:pic>
      <p:sp>
        <p:nvSpPr>
          <p:cNvPr id="27" name="AutoShape 10"/>
          <p:cNvSpPr/>
          <p:nvPr/>
        </p:nvSpPr>
        <p:spPr>
          <a:xfrm>
            <a:off x="7213600" y="20828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实例级筛选</a:t>
            </a:r>
            <a:endParaRPr lang="en-US" sz="1100"/>
          </a:p>
        </p:txBody>
      </p:sp>
      <p:sp>
        <p:nvSpPr>
          <p:cNvPr id="28" name="AutoShape 11"/>
          <p:cNvSpPr/>
          <p:nvPr/>
        </p:nvSpPr>
        <p:spPr>
          <a:xfrm>
            <a:off x="7213600" y="24892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剔除噪声严重的整幅图像，避免早期训练引入大量误差。</a:t>
            </a:r>
            <a:endParaRPr lang="en-US" sz="1100"/>
          </a:p>
        </p:txBody>
      </p:sp>
      <p:sp>
        <p:nvSpPr>
          <p:cNvPr id="29" name="AutoShape 12"/>
          <p:cNvSpPr/>
          <p:nvPr/>
        </p:nvSpPr>
        <p:spPr>
          <a:xfrm>
            <a:off x="1016000" y="39370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191000"/>
            <a:ext cx="406400" cy="406400"/>
          </a:xfrm>
          <a:prstGeom prst="rect">
            <a:avLst/>
          </a:prstGeom>
        </p:spPr>
      </p:pic>
      <p:sp>
        <p:nvSpPr>
          <p:cNvPr id="31" name="AutoShape 14"/>
          <p:cNvSpPr/>
          <p:nvPr/>
        </p:nvSpPr>
        <p:spPr>
          <a:xfrm>
            <a:off x="1879600" y="42418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像素级加权</a:t>
            </a:r>
            <a:endParaRPr lang="en-US" sz="1100"/>
          </a:p>
        </p:txBody>
      </p:sp>
      <p:sp>
        <p:nvSpPr>
          <p:cNvPr id="32" name="AutoShape 15"/>
          <p:cNvSpPr/>
          <p:nvPr/>
        </p:nvSpPr>
        <p:spPr>
          <a:xfrm>
            <a:off x="1879600" y="46482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为不同可信度像素分配权重，降低模糊区域对训练的干扰。</a:t>
            </a:r>
            <a:endParaRPr lang="en-US" sz="1100"/>
          </a:p>
        </p:txBody>
      </p:sp>
      <p:sp>
        <p:nvSpPr>
          <p:cNvPr id="33" name="AutoShape 16"/>
          <p:cNvSpPr/>
          <p:nvPr/>
        </p:nvSpPr>
        <p:spPr>
          <a:xfrm>
            <a:off x="6350000" y="39370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91000"/>
            <a:ext cx="406400" cy="406400"/>
          </a:xfrm>
          <a:prstGeom prst="rect">
            <a:avLst/>
          </a:prstGeom>
        </p:spPr>
      </p:pic>
      <p:sp>
        <p:nvSpPr>
          <p:cNvPr id="35" name="AutoShape 18"/>
          <p:cNvSpPr/>
          <p:nvPr/>
        </p:nvSpPr>
        <p:spPr>
          <a:xfrm>
            <a:off x="7213600" y="42418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动态扩展</a:t>
            </a:r>
            <a:endParaRPr lang="en-US" sz="1100"/>
          </a:p>
        </p:txBody>
      </p:sp>
      <p:sp>
        <p:nvSpPr>
          <p:cNvPr id="36" name="AutoShape 19"/>
          <p:cNvSpPr/>
          <p:nvPr/>
        </p:nvSpPr>
        <p:spPr>
          <a:xfrm>
            <a:off x="7213600" y="46482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逐步扩大伪标签选择范围，实现“从易到难”的渐进式学习。</a:t>
            </a:r>
            <a:endParaRPr lang="en-US" sz="1100"/>
          </a:p>
        </p:txBody>
      </p: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基于熵的动态过滤策略（</a:t>
            </a:r>
            <a:r>
              <a:rPr lang="en-US" altLang="zh-CN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Entropy-based Dynamic Filtering strategy</a:t>
            </a: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EDF</a:t>
            </a: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2000" b="1">
              <a:solidFill>
                <a:srgbClr val="000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sz="20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计算局部与全局熵</a:t>
            </a:r>
            <a:endParaRPr lang="zh-CN" altLang="en-US" sz="2000" b="1">
              <a:solidFill>
                <a:srgbClr val="000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 descr="屏幕截图 2026-01-09 1535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8290"/>
            <a:ext cx="8874760" cy="1844675"/>
          </a:xfrm>
          <a:prstGeom prst="rect">
            <a:avLst/>
          </a:prstGeom>
        </p:spPr>
      </p:pic>
      <p:pic>
        <p:nvPicPr>
          <p:cNvPr id="7" name="图片 6" descr="屏幕截图 2026-01-09 153604"/>
          <p:cNvPicPr>
            <a:picLocks noChangeAspect="1"/>
          </p:cNvPicPr>
          <p:nvPr/>
        </p:nvPicPr>
        <p:blipFill>
          <a:blip r:embed="rId2"/>
          <a:srcRect b="50867"/>
          <a:stretch>
            <a:fillRect/>
          </a:stretch>
        </p:blipFill>
        <p:spPr>
          <a:xfrm>
            <a:off x="1493520" y="3581400"/>
            <a:ext cx="8752840" cy="2895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sz="2000" b="1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计算局部与全局熵</a:t>
            </a:r>
            <a:endParaRPr lang="zh-CN" altLang="en-US" sz="2000" b="1">
              <a:solidFill>
                <a:srgbClr val="000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图片 6" descr="屏幕截图 2026-01-09 153604"/>
          <p:cNvPicPr>
            <a:picLocks noChangeAspect="1"/>
          </p:cNvPicPr>
          <p:nvPr/>
        </p:nvPicPr>
        <p:blipFill>
          <a:blip r:embed="rId1"/>
          <a:srcRect t="50426" b="441"/>
          <a:stretch>
            <a:fillRect/>
          </a:stretch>
        </p:blipFill>
        <p:spPr>
          <a:xfrm>
            <a:off x="1496060" y="2133600"/>
            <a:ext cx="8752840" cy="2895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实例级筛选（剔除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⾼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噪声样本）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 descr="屏幕截图 2026-01-09 1540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903095"/>
            <a:ext cx="10325100" cy="38195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像素级加权（抑制局部模糊区域）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 descr="屏幕截图 2026-01-09 154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470" y="2209800"/>
            <a:ext cx="10248900" cy="1552575"/>
          </a:xfrm>
          <a:prstGeom prst="rect">
            <a:avLst/>
          </a:prstGeom>
        </p:spPr>
      </p:pic>
      <p:pic>
        <p:nvPicPr>
          <p:cNvPr id="7" name="图片 6" descr="屏幕截图 2026-01-09 1541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0" y="4038600"/>
            <a:ext cx="10258425" cy="990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动态扩展（适配模型渐进式学习）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914525"/>
            <a:ext cx="10210800" cy="30289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107359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领域提</a:t>
            </a:r>
            <a:r>
              <a:rPr lang="en-US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⽰</a:t>
            </a: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引导的相互校正策略（</a:t>
            </a:r>
            <a:r>
              <a:rPr lang="en-US" altLang="zh-CN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Domain Prompt-guided Mutual Correction strategy</a:t>
            </a: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DPC</a:t>
            </a:r>
            <a:r>
              <a:rPr lang="zh-CN" altLang="en-US" sz="2000" b="1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2000" b="1">
              <a:solidFill>
                <a:srgbClr val="000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1016000" y="1778000"/>
            <a:ext cx="3175000" cy="3048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032000"/>
            <a:ext cx="406400" cy="406400"/>
          </a:xfrm>
          <a:prstGeom prst="rect">
            <a:avLst/>
          </a:prstGeom>
        </p:spPr>
      </p:pic>
      <p:sp>
        <p:nvSpPr>
          <p:cNvPr id="40" name="AutoShape 6"/>
          <p:cNvSpPr/>
          <p:nvPr/>
        </p:nvSpPr>
        <p:spPr>
          <a:xfrm>
            <a:off x="1270000" y="2603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生成混合提示</a:t>
            </a:r>
            <a:endParaRPr lang="en-US" sz="1100"/>
          </a:p>
        </p:txBody>
      </p:sp>
      <p:sp>
        <p:nvSpPr>
          <p:cNvPr id="41" name="AutoShape 7"/>
          <p:cNvSpPr/>
          <p:nvPr/>
        </p:nvSpPr>
        <p:spPr>
          <a:xfrm>
            <a:off x="1270000" y="304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将熵加权伪标签转化为SAM可理解的“点+框”混合提示。</a:t>
            </a:r>
            <a:endParaRPr lang="en-US" sz="1100"/>
          </a:p>
        </p:txBody>
      </p:sp>
      <p:pic>
        <p:nvPicPr>
          <p:cNvPr id="42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0" y="3149600"/>
            <a:ext cx="304800" cy="304800"/>
          </a:xfrm>
          <a:prstGeom prst="rect">
            <a:avLst/>
          </a:prstGeom>
        </p:spPr>
      </p:pic>
      <p:sp>
        <p:nvSpPr>
          <p:cNvPr id="43" name="AutoShape 9"/>
          <p:cNvSpPr/>
          <p:nvPr/>
        </p:nvSpPr>
        <p:spPr>
          <a:xfrm>
            <a:off x="4762500" y="1778000"/>
            <a:ext cx="3175000" cy="3048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2032000"/>
            <a:ext cx="406400" cy="406400"/>
          </a:xfrm>
          <a:prstGeom prst="rect">
            <a:avLst/>
          </a:prstGeom>
        </p:spPr>
      </p:pic>
      <p:sp>
        <p:nvSpPr>
          <p:cNvPr id="45" name="AutoShape 11"/>
          <p:cNvSpPr/>
          <p:nvPr/>
        </p:nvSpPr>
        <p:spPr>
          <a:xfrm>
            <a:off x="5016500" y="2603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SAM引导分割</a:t>
            </a:r>
            <a:endParaRPr lang="en-US" sz="1100"/>
          </a:p>
        </p:txBody>
      </p:sp>
      <p:sp>
        <p:nvSpPr>
          <p:cNvPr id="46" name="AutoShape 12"/>
          <p:cNvSpPr/>
          <p:nvPr/>
        </p:nvSpPr>
        <p:spPr>
          <a:xfrm>
            <a:off x="5016500" y="304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输入混合提示与原图，生成高质量的SAM伪标签。</a:t>
            </a:r>
            <a:endParaRPr lang="en-US" sz="1100"/>
          </a:p>
        </p:txBody>
      </p:sp>
      <p:pic>
        <p:nvPicPr>
          <p:cNvPr id="47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4500" y="3149600"/>
            <a:ext cx="304800" cy="304800"/>
          </a:xfrm>
          <a:prstGeom prst="rect">
            <a:avLst/>
          </a:prstGeom>
        </p:spPr>
      </p:pic>
      <p:sp>
        <p:nvSpPr>
          <p:cNvPr id="48" name="AutoShape 14"/>
          <p:cNvSpPr/>
          <p:nvPr/>
        </p:nvSpPr>
        <p:spPr>
          <a:xfrm>
            <a:off x="8509000" y="1778000"/>
            <a:ext cx="3175000" cy="3048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3000" y="2032000"/>
            <a:ext cx="406400" cy="406400"/>
          </a:xfrm>
          <a:prstGeom prst="rect">
            <a:avLst/>
          </a:prstGeom>
        </p:spPr>
      </p:pic>
      <p:sp>
        <p:nvSpPr>
          <p:cNvPr id="50" name="AutoShape 16"/>
          <p:cNvSpPr/>
          <p:nvPr/>
        </p:nvSpPr>
        <p:spPr>
          <a:xfrm>
            <a:off x="8763000" y="2603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伪标签互校正</a:t>
            </a:r>
            <a:endParaRPr lang="en-US" sz="1100"/>
          </a:p>
        </p:txBody>
      </p:sp>
      <p:sp>
        <p:nvSpPr>
          <p:cNvPr id="51" name="AutoShape 17"/>
          <p:cNvSpPr/>
          <p:nvPr/>
        </p:nvSpPr>
        <p:spPr>
          <a:xfrm>
            <a:off x="8763000" y="304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融合SAM与COD伪标签，修正误差，生成高置信度标签。</a:t>
            </a:r>
            <a:endParaRPr lang="en-US" sz="1100"/>
          </a:p>
        </p:txBody>
      </p:sp>
      <p:sp>
        <p:nvSpPr>
          <p:cNvPr id="52" name="AutoShape 18"/>
          <p:cNvSpPr/>
          <p:nvPr/>
        </p:nvSpPr>
        <p:spPr>
          <a:xfrm>
            <a:off x="1016000" y="5207000"/>
            <a:ext cx="5080000" cy="850265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3" name="Picture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5461000"/>
            <a:ext cx="254000" cy="254000"/>
          </a:xfrm>
          <a:prstGeom prst="rect">
            <a:avLst/>
          </a:prstGeom>
        </p:spPr>
      </p:pic>
      <p:sp>
        <p:nvSpPr>
          <p:cNvPr id="54" name="AutoShape 20"/>
          <p:cNvSpPr/>
          <p:nvPr/>
        </p:nvSpPr>
        <p:spPr>
          <a:xfrm>
            <a:off x="1651000" y="54610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利用SAM的强大分割能力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修正COD网络的伪标签，解决特定领域适配问题。</a:t>
            </a:r>
            <a:endParaRPr lang="en-US" sz="1100"/>
          </a:p>
        </p:txBody>
      </p:sp>
      <p:pic>
        <p:nvPicPr>
          <p:cNvPr id="55" name="图片 54" descr="ST-SAM"/>
          <p:cNvPicPr>
            <a:picLocks noChangeAspect="1"/>
          </p:cNvPicPr>
          <p:nvPr/>
        </p:nvPicPr>
        <p:blipFill>
          <a:blip r:embed="rId9"/>
          <a:srcRect l="25599" t="48108" r="14153" b="17688"/>
          <a:stretch>
            <a:fillRect/>
          </a:stretch>
        </p:blipFill>
        <p:spPr>
          <a:xfrm>
            <a:off x="6322060" y="4987290"/>
            <a:ext cx="5361940" cy="12217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⽣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成混合提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⽰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（注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⼊</a:t>
            </a: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领域知识）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34694"/>
          <a:stretch>
            <a:fillRect/>
          </a:stretch>
        </p:blipFill>
        <p:spPr>
          <a:xfrm>
            <a:off x="1219200" y="1905000"/>
            <a:ext cx="9991725" cy="3048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⽣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成混合提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⽰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（注</a:t>
            </a:r>
            <a:r>
              <a:rPr lang="en-US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⼊</a:t>
            </a: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领域知识）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657600"/>
            <a:ext cx="10191750" cy="1866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63673"/>
          <a:stretch>
            <a:fillRect/>
          </a:stretch>
        </p:blipFill>
        <p:spPr>
          <a:xfrm>
            <a:off x="914400" y="2133600"/>
            <a:ext cx="9991725" cy="16954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SAM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引导分割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45" y="2080895"/>
            <a:ext cx="10201275" cy="26955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ST-SAM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方法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62000" y="1066800"/>
            <a:ext cx="9215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伪标签互校正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2057400"/>
            <a:ext cx="7362825" cy="22764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7" grpId="0"/>
      <p:bldP spid="3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实验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7200" y="990600"/>
            <a:ext cx="53340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对比实验-定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75" y="1489075"/>
            <a:ext cx="10635615" cy="480504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实验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7200" y="990600"/>
            <a:ext cx="53340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消融实验（模块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有效性）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tabl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287000" cy="39719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实验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7200" y="990600"/>
            <a:ext cx="589851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消融实验（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EDF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动态扩展策略有效性和样本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学习顺序）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table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00200"/>
            <a:ext cx="10515600" cy="41529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实验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7200" y="990600"/>
            <a:ext cx="589851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消融实验（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DPC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的不同提示策略和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融合方法）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table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45" y="1710055"/>
            <a:ext cx="9972675" cy="42005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实验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结果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7200" y="990600"/>
            <a:ext cx="589851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消融实验（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ST-SAM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可扩展性）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table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600200"/>
            <a:ext cx="10058400" cy="39909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1435" y="114300"/>
            <a:ext cx="11510565" cy="607695"/>
            <a:chOff x="810" y="180"/>
            <a:chExt cx="13564" cy="957"/>
          </a:xfrm>
        </p:grpSpPr>
        <p:sp>
          <p:nvSpPr>
            <p:cNvPr id="4" name="矩形 24"/>
            <p:cNvSpPr/>
            <p:nvPr/>
          </p:nvSpPr>
          <p:spPr>
            <a:xfrm>
              <a:off x="2127" y="180"/>
              <a:ext cx="12247" cy="9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2" indent="0" algn="l" defTabSz="4572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x-none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宋体" panose="02010600030101010101" pitchFamily="2" charset="-122"/>
                  <a:cs typeface="+mn-cs"/>
                  <a:sym typeface="Arial" panose="020B0604020202020204" pitchFamily="34" charset="0"/>
                </a:rPr>
                <a:t>总结</a:t>
              </a:r>
              <a:endParaRPr kumimoji="0" lang="zh-CN" altLang="x-none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0" y="254"/>
              <a:ext cx="96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entury Gothic" panose="020B0502020202020204" pitchFamily="34" charset="0"/>
                </a:rPr>
                <a:t>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entury Gothic" panose="020B0502020202020204" pitchFamily="34" charset="0"/>
              </a:endParaRPr>
            </a:p>
          </p:txBody>
        </p:sp>
      </p:grpSp>
      <p:sp>
        <p:nvSpPr>
          <p:cNvPr id="8" name="AutoShape 4"/>
          <p:cNvSpPr/>
          <p:nvPr/>
        </p:nvSpPr>
        <p:spPr>
          <a:xfrm>
            <a:off x="838200" y="1398905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主要贡献 (Conclusion)</a:t>
            </a:r>
            <a:endParaRPr lang="en-US" sz="1100"/>
          </a:p>
        </p:txBody>
      </p:sp>
      <p:pic>
        <p:nvPicPr>
          <p:cNvPr id="10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70405"/>
            <a:ext cx="304800" cy="304800"/>
          </a:xfrm>
          <a:prstGeom prst="rect">
            <a:avLst/>
          </a:prstGeom>
        </p:spPr>
      </p:pic>
      <p:sp>
        <p:nvSpPr>
          <p:cNvPr id="11" name="AutoShape 6"/>
          <p:cNvSpPr/>
          <p:nvPr>
            <p:custDataLst>
              <p:tags r:id="rId4"/>
            </p:custDataLst>
          </p:nvPr>
        </p:nvSpPr>
        <p:spPr>
          <a:xfrm>
            <a:off x="1346200" y="19704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新范式</a:t>
            </a:r>
            <a:endParaRPr lang="en-US" sz="1100"/>
          </a:p>
        </p:txBody>
      </p:sp>
      <p:sp>
        <p:nvSpPr>
          <p:cNvPr id="12" name="AutoShape 7"/>
          <p:cNvSpPr/>
          <p:nvPr>
            <p:custDataLst>
              <p:tags r:id="rId5"/>
            </p:custDataLst>
          </p:nvPr>
        </p:nvSpPr>
        <p:spPr>
          <a:xfrm>
            <a:off x="1346200" y="2351405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首次将自训练策略与SAM结合，为半监督伪装目标检测提供了新范式。</a:t>
            </a:r>
            <a:endParaRPr lang="en-US" sz="1100"/>
          </a:p>
        </p:txBody>
      </p:sp>
      <p:pic>
        <p:nvPicPr>
          <p:cNvPr id="13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" y="3164205"/>
            <a:ext cx="304800" cy="304800"/>
          </a:xfrm>
          <a:prstGeom prst="rect">
            <a:avLst/>
          </a:prstGeom>
        </p:spPr>
      </p:pic>
      <p:sp>
        <p:nvSpPr>
          <p:cNvPr id="14" name="AutoShape 9"/>
          <p:cNvSpPr/>
          <p:nvPr>
            <p:custDataLst>
              <p:tags r:id="rId9"/>
            </p:custDataLst>
          </p:nvPr>
        </p:nvSpPr>
        <p:spPr>
          <a:xfrm>
            <a:off x="1346200" y="31642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高效性</a:t>
            </a:r>
            <a:endParaRPr lang="en-US" sz="1100"/>
          </a:p>
        </p:txBody>
      </p:sp>
      <p:sp>
        <p:nvSpPr>
          <p:cNvPr id="15" name="AutoShape 10"/>
          <p:cNvSpPr/>
          <p:nvPr>
            <p:custDataLst>
              <p:tags r:id="rId10"/>
            </p:custDataLst>
          </p:nvPr>
        </p:nvSpPr>
        <p:spPr>
          <a:xfrm>
            <a:off x="1346200" y="3545205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仅用1%标注数据即超越SOTA，极大降低了对标注数据的依赖。</a:t>
            </a:r>
            <a:endParaRPr lang="en-US" sz="1100"/>
          </a:p>
        </p:txBody>
      </p:sp>
      <p:pic>
        <p:nvPicPr>
          <p:cNvPr id="16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" y="4358005"/>
            <a:ext cx="304800" cy="304800"/>
          </a:xfrm>
          <a:prstGeom prst="rect">
            <a:avLst/>
          </a:prstGeom>
        </p:spPr>
      </p:pic>
      <p:sp>
        <p:nvSpPr>
          <p:cNvPr id="17" name="AutoShape 12"/>
          <p:cNvSpPr/>
          <p:nvPr>
            <p:custDataLst>
              <p:tags r:id="rId14"/>
            </p:custDataLst>
          </p:nvPr>
        </p:nvSpPr>
        <p:spPr>
          <a:xfrm>
            <a:off x="1346200" y="43580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强扩展性</a:t>
            </a:r>
            <a:endParaRPr lang="en-US" sz="1100"/>
          </a:p>
        </p:txBody>
      </p:sp>
      <p:sp>
        <p:nvSpPr>
          <p:cNvPr id="18" name="AutoShape 13"/>
          <p:cNvSpPr/>
          <p:nvPr>
            <p:custDataLst>
              <p:tags r:id="rId15"/>
            </p:custDataLst>
          </p:nvPr>
        </p:nvSpPr>
        <p:spPr>
          <a:xfrm>
            <a:off x="1346200" y="4739005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框架不依赖特定网络或损失函数，具有很强的通用性和灵活性。</a:t>
            </a:r>
            <a:endParaRPr lang="en-US" sz="1100"/>
          </a:p>
        </p:txBody>
      </p:sp>
      <p:cxnSp>
        <p:nvCxnSpPr>
          <p:cNvPr id="19" name="Connector 14"/>
          <p:cNvCxnSpPr/>
          <p:nvPr>
            <p:custDataLst>
              <p:tags r:id="rId16"/>
            </p:custDataLst>
          </p:nvPr>
        </p:nvCxnSpPr>
        <p:spPr>
          <a:xfrm rot="5388802">
            <a:off x="4146550" y="3390910"/>
            <a:ext cx="389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15"/>
          <p:cNvSpPr/>
          <p:nvPr/>
        </p:nvSpPr>
        <p:spPr>
          <a:xfrm>
            <a:off x="6426200" y="1398905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 (Future Work)</a:t>
            </a:r>
            <a:endParaRPr lang="en-US" sz="1100"/>
          </a:p>
        </p:txBody>
      </p:sp>
      <p:pic>
        <p:nvPicPr>
          <p:cNvPr id="21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26200" y="1970405"/>
            <a:ext cx="304800" cy="304800"/>
          </a:xfrm>
          <a:prstGeom prst="rect">
            <a:avLst/>
          </a:prstGeom>
        </p:spPr>
      </p:pic>
      <p:sp>
        <p:nvSpPr>
          <p:cNvPr id="22" name="AutoShape 17"/>
          <p:cNvSpPr/>
          <p:nvPr>
            <p:custDataLst>
              <p:tags r:id="rId20"/>
            </p:custDataLst>
          </p:nvPr>
        </p:nvSpPr>
        <p:spPr>
          <a:xfrm>
            <a:off x="6934200" y="19704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更复杂场景</a:t>
            </a:r>
            <a:endParaRPr lang="en-US" sz="1100"/>
          </a:p>
        </p:txBody>
      </p:sp>
      <p:sp>
        <p:nvSpPr>
          <p:cNvPr id="23" name="AutoShape 18"/>
          <p:cNvSpPr/>
          <p:nvPr>
            <p:custDataLst>
              <p:tags r:id="rId21"/>
            </p:custDataLst>
          </p:nvPr>
        </p:nvSpPr>
        <p:spPr>
          <a:xfrm>
            <a:off x="6934200" y="2351405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探索在视频伪装目标检测等更复杂动态场景中的应用。</a:t>
            </a:r>
            <a:endParaRPr lang="en-US" sz="1100"/>
          </a:p>
        </p:txBody>
      </p:sp>
      <p:pic>
        <p:nvPicPr>
          <p:cNvPr id="24" name="Picture 1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26200" y="3164205"/>
            <a:ext cx="304800" cy="304800"/>
          </a:xfrm>
          <a:prstGeom prst="rect">
            <a:avLst/>
          </a:prstGeom>
        </p:spPr>
      </p:pic>
      <p:sp>
        <p:nvSpPr>
          <p:cNvPr id="25" name="AutoShape 20"/>
          <p:cNvSpPr/>
          <p:nvPr>
            <p:custDataLst>
              <p:tags r:id="rId25"/>
            </p:custDataLst>
          </p:nvPr>
        </p:nvSpPr>
        <p:spPr>
          <a:xfrm>
            <a:off x="6934200" y="31642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提示工程</a:t>
            </a:r>
            <a:endParaRPr lang="en-US" sz="1100"/>
          </a:p>
        </p:txBody>
      </p:sp>
      <p:sp>
        <p:nvSpPr>
          <p:cNvPr id="26" name="AutoShape 21"/>
          <p:cNvSpPr/>
          <p:nvPr>
            <p:custDataLst>
              <p:tags r:id="rId26"/>
            </p:custDataLst>
          </p:nvPr>
        </p:nvSpPr>
        <p:spPr>
          <a:xfrm>
            <a:off x="6934200" y="3545205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研究更有效的提示生成策略，进一步提升SAM的任务性能。</a:t>
            </a:r>
            <a:endParaRPr lang="en-US" sz="1100"/>
          </a:p>
        </p:txBody>
      </p:sp>
      <p:pic>
        <p:nvPicPr>
          <p:cNvPr id="27" name="Picture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426200" y="4358005"/>
            <a:ext cx="304800" cy="304800"/>
          </a:xfrm>
          <a:prstGeom prst="rect">
            <a:avLst/>
          </a:prstGeom>
        </p:spPr>
      </p:pic>
      <p:sp>
        <p:nvSpPr>
          <p:cNvPr id="28" name="AutoShape 23"/>
          <p:cNvSpPr/>
          <p:nvPr>
            <p:custDataLst>
              <p:tags r:id="rId30"/>
            </p:custDataLst>
          </p:nvPr>
        </p:nvSpPr>
        <p:spPr>
          <a:xfrm>
            <a:off x="6934200" y="435800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减少计算量</a:t>
            </a:r>
            <a:endParaRPr lang="en-US" sz="1100"/>
          </a:p>
        </p:txBody>
      </p:sp>
      <p:sp>
        <p:nvSpPr>
          <p:cNvPr id="29" name="AutoShape 24"/>
          <p:cNvSpPr/>
          <p:nvPr>
            <p:custDataLst>
              <p:tags r:id="rId31"/>
            </p:custDataLst>
          </p:nvPr>
        </p:nvSpPr>
        <p:spPr>
          <a:xfrm>
            <a:off x="6934200" y="4739005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探索轻量级SAM变体或蒸馏策略，降低模型计算开销。</a:t>
            </a:r>
            <a:endParaRPr lang="en-US" sz="110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echatIMG7775"/>
          <p:cNvPicPr>
            <a:picLocks noChangeAspect="1"/>
          </p:cNvPicPr>
          <p:nvPr/>
        </p:nvPicPr>
        <p:blipFill>
          <a:blip r:embed="rId1" cstate="print"/>
          <a:srcRect t="36370" b="9555"/>
          <a:stretch>
            <a:fillRect/>
          </a:stretch>
        </p:blipFill>
        <p:spPr>
          <a:xfrm>
            <a:off x="1524000" y="1029837"/>
            <a:ext cx="9144000" cy="2016456"/>
          </a:xfrm>
          <a:prstGeom prst="rect">
            <a:avLst/>
          </a:prstGeom>
        </p:spPr>
      </p:pic>
      <p:grpSp>
        <p:nvGrpSpPr>
          <p:cNvPr id="2" name="组合 4"/>
          <p:cNvGrpSpPr/>
          <p:nvPr/>
        </p:nvGrpSpPr>
        <p:grpSpPr>
          <a:xfrm>
            <a:off x="5673437" y="2438400"/>
            <a:ext cx="845126" cy="872220"/>
            <a:chOff x="4309745" y="1529873"/>
            <a:chExt cx="1594000" cy="1584960"/>
          </a:xfrm>
        </p:grpSpPr>
        <p:sp>
          <p:nvSpPr>
            <p:cNvPr id="6" name="椭圆 5"/>
            <p:cNvSpPr/>
            <p:nvPr/>
          </p:nvSpPr>
          <p:spPr>
            <a:xfrm>
              <a:off x="4309745" y="1529873"/>
              <a:ext cx="1584960" cy="1584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076"/>
            <a:stretch>
              <a:fillRect/>
            </a:stretch>
          </p:blipFill>
          <p:spPr>
            <a:xfrm>
              <a:off x="4318786" y="1572656"/>
              <a:ext cx="1584959" cy="1499394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-573897" y="3765076"/>
            <a:ext cx="13335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感</a:t>
            </a: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谢</a:t>
            </a: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大</a:t>
            </a: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家</a:t>
            </a:r>
            <a:endParaRPr lang="zh-CN" sz="4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8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9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0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1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2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3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4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5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6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7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8.xml><?xml version="1.0" encoding="utf-8"?>
<p:tagLst xmlns:p="http://schemas.openxmlformats.org/presentationml/2006/main">
  <p:tag name="KSO_WM_DIAGRAM_VIRTUALLY_FRAME" val="{&quot;height&quot;:290,&quot;left&quot;:96,&quot;top&quot;:114,&quot;width&quot;:780}"/>
</p:tagLst>
</file>

<file path=ppt/tags/tag19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0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1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2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3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4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5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6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7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8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29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0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1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2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3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4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5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6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7.xml><?xml version="1.0" encoding="utf-8"?>
<p:tagLst xmlns:p="http://schemas.openxmlformats.org/presentationml/2006/main">
  <p:tag name="KSO_WM_DIAGRAM_VIRTUALLY_FRAME" val="{&quot;height&quot;:310.8516286601747,&quot;left&quot;:66,&quot;top&quot;:110.14997307148744,&quot;width&quot;:840}"/>
</p:tagLst>
</file>

<file path=ppt/tags/tag38.xml><?xml version="1.0" encoding="utf-8"?>
<p:tagLst xmlns:p="http://schemas.openxmlformats.org/presentationml/2006/main">
  <p:tag name="COMMONDATA" val="eyJoZGlkIjoiZjk3M2NkMGNkYWRmY2Q5YjQxNjZhYjIzZDkxNWQzNTk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lang="zh-CN" altLang="en-US"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新封面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1691</Words>
  <Application>WPS 演示</Application>
  <PresentationFormat>宽屏</PresentationFormat>
  <Paragraphs>259</Paragraphs>
  <Slides>23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黑体</vt:lpstr>
      <vt:lpstr>Times New Roman</vt:lpstr>
      <vt:lpstr>Century Gothic</vt:lpstr>
      <vt:lpstr>Calibri</vt:lpstr>
      <vt:lpstr>Arial Unicode MS</vt:lpstr>
      <vt:lpstr>Noto Sans SC</vt:lpstr>
      <vt:lpstr>Calibri</vt:lpstr>
      <vt:lpstr>默认设计模板</vt:lpstr>
      <vt:lpstr>1_新封面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大数据技术原理与应用</dc:title>
  <dc:creator>厦门大学-林子雨-编著</dc:creator>
  <dc:description>http://dblab.xmu.edu.cn/post/bigdata</dc:description>
  <cp:lastModifiedBy>许传銮</cp:lastModifiedBy>
  <cp:revision>3356</cp:revision>
  <cp:lastPrinted>2025-08-19T12:20:00Z</cp:lastPrinted>
  <dcterms:created xsi:type="dcterms:W3CDTF">2025-08-19T12:20:00Z</dcterms:created>
  <dcterms:modified xsi:type="dcterms:W3CDTF">2026-01-09T08:09:06Z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/>
  </property>
  <property fmtid="{D5CDD505-2E9C-101B-9397-08002B2CF9AE}" pid="4" name="KSOProductBuildVer">
    <vt:lpwstr>2052-12.1.0.24034</vt:lpwstr>
  </property>
</Properties>
</file>