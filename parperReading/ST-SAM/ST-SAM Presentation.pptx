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presProps.xml" Type="http://schemas.openxmlformats.org/officeDocument/2006/relationships/presProps"/><Relationship Id="rId30" Target="notesSlides/notesSlide10.xml" Type="http://schemas.openxmlformats.org/officeDocument/2006/relationships/notesSlide"/><Relationship Id="rId31" Target="notesSlides/notesSlide11.xml" Type="http://schemas.openxmlformats.org/officeDocument/2006/relationships/notesSlide"/><Relationship Id="rId32" Target="notesSlides/notesSlide12.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大家好，今天我将为大家介绍我们的最新研究成果——ST-SAM。</a:t>
            </a:r>
          </a:p>
          <a:p>
            <a:pPr algn="l" indent="0">
              <a:lnSpc>
                <a:spcPct val="100000"/>
              </a:lnSpc>
            </a:pPr>
            <a:r>
              <a:rPr lang="en-US" b="false" i="false" strike="noStrike" u="none" sz="1400">
                <a:solidFill>
                  <a:srgbClr val="000000"/>
                </a:solidFill>
              </a:rPr>
              <a:t>这项工作聚焦于半监督伪装目标检测领域。我们提出了一个创新的自训练框架，它由强大的SAM（Segment Anything Model）模型驱动。</a:t>
            </a:r>
          </a:p>
          <a:p>
            <a:pPr algn="l" indent="0">
              <a:lnSpc>
                <a:spcPct val="100000"/>
              </a:lnSpc>
            </a:pPr>
            <a:r>
              <a:rPr lang="en-US" b="false" i="false" strike="noStrike" u="none" sz="1400">
                <a:solidFill>
                  <a:srgbClr val="000000"/>
                </a:solidFill>
              </a:rPr>
              <a:t>其核心思想是，在仅有少量标注数据的情况下，通过自训练策略，让模型能够利用大量未标注数据进行自我学习和提升，从而实现高效、精准的伪装目标检测。这为解决伪装目标检测中标注数据稀缺的难题提供了一个全新的、极具潜力的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这是我们今天报告的目录。首先，我将介绍伪装目标检测的背景挑战以及半监督学习带来的机遇。接着，我们会回顾相关领域的现有工作，并指出它们的局限性。然后，我将详细阐述我们提出的ST-SAM方法，包括其自训练框架和核心模块。之后，我们会展示该方法在多个公开数据集上的实验结果和性能分析。最后，对我们的工作进行总结，并对未来的研究方向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这一页，我们首先来了解一下什么是伪装目标检测，也就是COD。</a:t>
            </a:r>
          </a:p>
          <a:p>
            <a:pPr algn="l" indent="0">
              <a:lnSpc>
                <a:spcPct val="100000"/>
              </a:lnSpc>
            </a:pPr>
            <a:r>
              <a:rPr lang="en-US" b="false" i="false" strike="noStrike" u="none" sz="1400">
                <a:solidFill>
                  <a:srgbClr val="000000"/>
                </a:solidFill>
              </a:rPr>
              <a:t>它的任务定义非常明确，就是在复杂的背景中，找到那些和环境长得几乎一模一样的目标，并精确地把它们分割出来。</a:t>
            </a:r>
          </a:p>
          <a:p>
            <a:pPr algn="l" indent="0">
              <a:lnSpc>
                <a:spcPct val="100000"/>
              </a:lnSpc>
            </a:pPr>
            <a:r>
              <a:rPr lang="en-US" b="false" i="false" strike="noStrike" u="none" sz="1400">
                <a:solidFill>
                  <a:srgbClr val="000000"/>
                </a:solidFill>
              </a:rPr>
              <a:t>这项任务面临三大核心挑战：首先是纹理相似性，目标和背景的花纹、颜色几乎融为一体；其次是轮廓复杂性，伪装目标的形状往往不规则且模糊不清；最后是尺度变化，目标在图像中的大小可以相差很大。</a:t>
            </a:r>
          </a:p>
          <a:p>
            <a:pPr algn="l" indent="0">
              <a:lnSpc>
                <a:spcPct val="100000"/>
              </a:lnSpc>
            </a:pPr>
            <a:r>
              <a:rPr lang="en-US" b="false" i="false" strike="noStrike" u="none" sz="1400">
                <a:solidFill>
                  <a:srgbClr val="000000"/>
                </a:solidFill>
              </a:rPr>
              <a:t>尽管困难重重，COD技术却有着巨大的应用价值。在军事上，它可以用于侦察；在生态保护中，能帮助我们观察和保护野生动物；在安防领域，它能提升监控系统的智能水平。</a:t>
            </a:r>
          </a:p>
          <a:p>
            <a:pPr algn="l" indent="0">
              <a:lnSpc>
                <a:spcPct val="100000"/>
              </a:lnSpc>
            </a:pPr>
            <a:r>
              <a:rPr lang="en-US" b="false" i="false" strike="noStrike" u="none" sz="1400">
                <a:solidFill>
                  <a:srgbClr val="000000"/>
                </a:solidFill>
              </a:rPr>
              <a:t>然而，当前COD研究的最大瓶颈在于数据。获取大规模、高质量的像素级标注数据成本非常高，这严重制约了相关算法的训练和发展。右侧的这张图生动地展示了COD任务的难度，一只竹节虫完美地隐藏在树枝上，即使是我们人类的眼睛也需要仔细分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这一页，我们来详细介绍ST-SAM的整体框架。</a:t>
            </a:r>
          </a:p>
          <a:p>
            <a:pPr algn="l" indent="0">
              <a:lnSpc>
                <a:spcPct val="100000"/>
              </a:lnSpc>
            </a:pPr>
            <a:r>
              <a:rPr lang="en-US" b="false" i="false" strike="noStrike" u="none" sz="1400">
                <a:solidFill>
                  <a:srgbClr val="000000"/>
                </a:solidFill>
              </a:rPr>
              <a:t>我们的核心策略是采用自训练范式，这意味着我们只需要训练一个单一的COD网络，从根本上避免了传统师生框架中可能出现的预测偏差问题。</a:t>
            </a:r>
          </a:p>
          <a:p>
            <a:pPr algn="l" indent="0">
              <a:lnSpc>
                <a:spcPct val="100000"/>
              </a:lnSpc>
            </a:pPr>
            <a:r>
              <a:rPr lang="en-US" b="false" i="false" strike="noStrike" u="none" sz="1400">
                <a:solidFill>
                  <a:srgbClr val="000000"/>
                </a:solidFill>
              </a:rPr>
              <a:t>整个框架主要由三个部分组成：</a:t>
            </a:r>
          </a:p>
          <a:p>
            <a:pPr algn="l" indent="0">
              <a:lnSpc>
                <a:spcPct val="100000"/>
              </a:lnSpc>
            </a:pPr>
            <a:r>
              <a:rPr lang="en-US" b="false" i="false" strike="noStrike" u="none" sz="1400">
                <a:solidFill>
                  <a:srgbClr val="000000"/>
                </a:solidFill>
              </a:rPr>
              <a:t>首先是COD网络，它是一个基础的编码器-解码器结构，负责学习伪装目标检测的核心任务。</a:t>
            </a:r>
          </a:p>
          <a:p>
            <a:pPr algn="l" indent="0">
              <a:lnSpc>
                <a:spcPct val="100000"/>
              </a:lnSpc>
            </a:pPr>
            <a:r>
              <a:rPr lang="en-US" b="false" i="false" strike="noStrike" u="none" sz="1400">
                <a:solidFill>
                  <a:srgbClr val="000000"/>
                </a:solidFill>
              </a:rPr>
              <a:t>其次是熵动态过滤，简称EDF模块。它的作用是对COD网络生成的初始伪标签进行清洗和动态扩展，确保我们用于自训练的数据质量足够高。</a:t>
            </a:r>
          </a:p>
          <a:p>
            <a:pPr algn="l" indent="0">
              <a:lnSpc>
                <a:spcPct val="100000"/>
              </a:lnSpc>
            </a:pPr>
            <a:r>
              <a:rPr lang="en-US" b="false" i="false" strike="noStrike" u="none" sz="1400">
                <a:solidFill>
                  <a:srgbClr val="000000"/>
                </a:solidFill>
              </a:rPr>
              <a:t>第三部分是领域提示引导的相互校正，简称DPC模块。它将经过EDF处理的伪标签转化为领域知识提示，然后利用强大的SAM模型生成更高质量的伪标签。最后，SAM生成的标签会与COD网络的预测结果进行相互校正，形成一个闭环。</a:t>
            </a:r>
          </a:p>
          <a:p>
            <a:pPr algn="l" indent="0">
              <a:lnSpc>
                <a:spcPct val="100000"/>
              </a:lnSpc>
            </a:pPr>
            <a:r>
              <a:rPr lang="en-US" b="false" i="false" strike="noStrike" u="none" sz="1400">
                <a:solidFill>
                  <a:srgbClr val="000000"/>
                </a:solidFill>
              </a:rPr>
              <a:t>需要强调的是，SAM在这里扮演的是一个外部的、强大的分割引擎角色，它并不直接参与我们COD网络的训练循环，而是为自训练过程提供高质量的监督信号，从而提升整个模型的性能。右侧的架构图直观地展示了从输入数据到生成最终伪标签的完整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接下来，我们详细介绍我们提出的核心模块——熵动态过滤，简称EDF。</a:t>
            </a:r>
          </a:p>
          <a:p>
            <a:pPr algn="l" indent="0">
              <a:lnSpc>
                <a:spcPct val="100000"/>
              </a:lnSpc>
            </a:pPr>
            <a:r>
              <a:rPr lang="en-US" b="false" i="false" strike="noStrike" u="none" sz="1400">
                <a:solidFill>
                  <a:srgbClr val="000000"/>
                </a:solidFill>
              </a:rPr>
              <a:t>EDF的核心目标是从噪声较多的初始伪标签中，智能地筛选出可靠样本，并抑制局部不确定区域，最终引导模型进行从易到难的渐进式学习。</a:t>
            </a:r>
          </a:p>
          <a:p>
            <a:pPr algn="l" indent="0">
              <a:lnSpc>
                <a:spcPct val="100000"/>
              </a:lnSpc>
            </a:pPr>
            <a:r>
              <a:rPr lang="en-US" b="false" i="false" strike="noStrike" u="none" sz="1400">
                <a:solidFill>
                  <a:srgbClr val="000000"/>
                </a:solidFill>
              </a:rPr>
              <a:t>它主要通过四个步骤实现：</a:t>
            </a:r>
          </a:p>
          <a:p>
            <a:pPr algn="l" indent="0">
              <a:lnSpc>
                <a:spcPct val="100000"/>
              </a:lnSpc>
            </a:pPr>
            <a:r>
              <a:rPr lang="en-US" b="false" i="false" strike="noStrike" u="none" sz="1400">
                <a:solidFill>
                  <a:srgbClr val="000000"/>
                </a:solidFill>
              </a:rPr>
              <a:t>第一步，计算局部与全局熵。我们利用熵值来量化每个像素及其周围区域的预测不确定性。简单来说，熵值越高，代表模型对该区域的分类越犹豫，不确定性就越大。</a:t>
            </a:r>
          </a:p>
          <a:p>
            <a:pPr algn="l" indent="0">
              <a:lnSpc>
                <a:spcPct val="100000"/>
              </a:lnSpc>
            </a:pPr>
            <a:r>
              <a:rPr lang="en-US" b="false" i="false" strike="noStrike" u="none" sz="1400">
                <a:solidFill>
                  <a:srgbClr val="000000"/>
                </a:solidFill>
              </a:rPr>
              <a:t>第二步，进行实例级筛选。基于第一步计算出的不确定性指标，我们会直接剔除那些噪声非常严重的整幅图像。这能有效避免在训练初期就引入大量错误信息。</a:t>
            </a:r>
          </a:p>
          <a:p>
            <a:pPr algn="l" indent="0">
              <a:lnSpc>
                <a:spcPct val="100000"/>
              </a:lnSpc>
            </a:pPr>
            <a:r>
              <a:rPr lang="en-US" b="false" i="false" strike="noStrike" u="none" sz="1400">
                <a:solidFill>
                  <a:srgbClr val="000000"/>
                </a:solidFill>
              </a:rPr>
              <a:t>第三步，是像素级加权。对于保留下来的图像，我们会为每个像素分配不同的权重。那些可信度高的像素会被赋予更高的权重，而模糊或不确定的区域权重则会降低，从而减少它们对模型训练的干扰。</a:t>
            </a:r>
          </a:p>
          <a:p>
            <a:pPr algn="l" indent="0">
              <a:lnSpc>
                <a:spcPct val="100000"/>
              </a:lnSpc>
            </a:pPr>
            <a:r>
              <a:rPr lang="en-US" b="false" i="false" strike="noStrike" u="none" sz="1400">
                <a:solidFill>
                  <a:srgbClr val="000000"/>
                </a:solidFill>
              </a:rPr>
              <a:t>最后一步，是动态扩展。随着训练轮次的增加，模型的能力会不断增强。这时，我们会逐步放宽筛选条件，扩大伪标签的选择范围，让模型开始学习那些之前被认为是“困难”的样本。这就是一个典型的“从易到难”的学习过程。</a:t>
            </a:r>
          </a:p>
          <a:p>
            <a:pPr algn="l" indent="0">
              <a:lnSpc>
                <a:spcPct val="100000"/>
              </a:lnSpc>
            </a:pPr>
            <a:r>
              <a:rPr lang="en-US" b="false" i="false" strike="noStrike" u="none" sz="1400">
                <a:solidFill>
                  <a:srgbClr val="000000"/>
                </a:solidFill>
              </a:rPr>
              <a:t>通过这四个步骤的协同工作，EDF能够显著提升伪标签的质量，为后续的模型训练提供更可靠的监督信号。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接下来，我们详细介绍本次工作的核心创新模块——领域提示引导的相互校正，简称DPC。</a:t>
            </a:r>
          </a:p>
          <a:p>
            <a:pPr algn="l" indent="0">
              <a:lnSpc>
                <a:spcPct val="100000"/>
              </a:lnSpc>
            </a:pPr>
            <a:r>
              <a:rPr lang="en-US" b="false" i="false" strike="noStrike" u="none" sz="1400">
                <a:solidFill>
                  <a:srgbClr val="000000"/>
                </a:solidFill>
              </a:rPr>
              <a:t>这个模块的核心目标，是解决通用分割模型SAM在特定领域，比如伪装检测任务上的适配问题，并利用它强大的分割能力来提升我们COD网络生成的伪标签质量。</a:t>
            </a:r>
          </a:p>
          <a:p>
            <a:pPr algn="l" indent="0">
              <a:lnSpc>
                <a:spcPct val="100000"/>
              </a:lnSpc>
            </a:pPr>
            <a:r>
              <a:rPr lang="en-US" b="false" i="false" strike="noStrike" u="none" sz="1400">
                <a:solidFill>
                  <a:srgbClr val="000000"/>
                </a:solidFill>
              </a:rPr>
              <a:t>DPC模块主要包含三个步骤：</a:t>
            </a:r>
          </a:p>
          <a:p>
            <a:pPr algn="l" indent="0">
              <a:lnSpc>
                <a:spcPct val="100000"/>
              </a:lnSpc>
            </a:pPr>
            <a:r>
              <a:rPr lang="en-US" b="false" i="false" strike="noStrike" u="none" sz="1400">
                <a:solidFill>
                  <a:srgbClr val="000000"/>
                </a:solidFill>
              </a:rPr>
              <a:t>第一步，生成混合提示。我们将COD网络初步输出的熵加权伪标签，转化为SAM模型能够理解的“点+框”混合提示。框提示用于确保目标区域的完整性，而点提示则精准定位目标核心，减少背景干扰。</a:t>
            </a:r>
          </a:p>
          <a:p>
            <a:pPr algn="l" indent="0">
              <a:lnSpc>
                <a:spcPct val="100000"/>
              </a:lnSpc>
            </a:pPr>
            <a:r>
              <a:rPr lang="en-US" b="false" i="false" strike="noStrike" u="none" sz="1400">
                <a:solidFill>
                  <a:srgbClr val="000000"/>
                </a:solidFill>
              </a:rPr>
              <a:t>第二步，SAM引导分割。我们将生成的混合提示和原始图像一同输入到SAM中，由SAM生成一个高质量、高分辨率的伪标签。</a:t>
            </a:r>
          </a:p>
          <a:p>
            <a:pPr algn="l" indent="0">
              <a:lnSpc>
                <a:spcPct val="100000"/>
              </a:lnSpc>
            </a:pPr>
            <a:r>
              <a:rPr lang="en-US" b="false" i="false" strike="noStrike" u="none" sz="1400">
                <a:solidFill>
                  <a:srgbClr val="000000"/>
                </a:solidFill>
              </a:rPr>
              <a:t>第三步，伪标签互校正。我们将SAM生成的伪标签与COD网络最初生成的伪标签进行融合。通过一个相互校正的机制，两种标签的误差得以弥补，最终生成一个高置信度的伪标签，用于后续的模型训练。</a:t>
            </a:r>
          </a:p>
          <a:p>
            <a:pPr algn="l" indent="0">
              <a:lnSpc>
                <a:spcPct val="100000"/>
              </a:lnSpc>
            </a:pPr>
            <a:r>
              <a:rPr lang="en-US" b="false" i="false" strike="noStrike" u="none" sz="1400">
                <a:solidFill>
                  <a:srgbClr val="000000"/>
                </a:solidFill>
              </a:rPr>
              <a:t>通过这三个步骤，DPC模块有效地桥梁了通用模型与特定任务之间的鸿沟，显著提升了伪标签的可靠性，从而为整个自监督学习框架奠定了坚实的基础。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这一页，我们展示了ST-SAM方法与当前最先进方法的定量对比结果。所有实验都在仅使用1%标注数据的严苛条件下进行。</a:t>
            </a:r>
          </a:p>
          <a:p>
            <a:pPr algn="l" indent="0">
              <a:lnSpc>
                <a:spcPct val="100000"/>
              </a:lnSpc>
            </a:pPr>
            <a:r>
              <a:rPr lang="en-US" b="false" i="false" strike="noStrike" u="none" sz="1400">
                <a:solidFill>
                  <a:srgbClr val="000000"/>
                </a:solidFill>
              </a:rPr>
              <a:t>从表格中可以清晰地看到，我们的ST-SAM方法在CAMO、CHAMELEON、COD10K和NC4K这四个主流基准数据集上，无论是F-beta omega还是MAE指标，都全面超越了现有的半监督和弱监督方法，例如CamoTeacher和SSCOD。</a:t>
            </a:r>
          </a:p>
          <a:p>
            <a:pPr algn="l" indent="0">
              <a:lnSpc>
                <a:spcPct val="100000"/>
              </a:lnSpc>
            </a:pPr>
            <a:r>
              <a:rPr lang="en-US" b="false" i="false" strike="noStrike" u="none" sz="1400">
                <a:solidFill>
                  <a:srgbClr val="000000"/>
                </a:solidFill>
              </a:rPr>
              <a:t>更令人振奋的是，即便我们的方法只使用了极少的标注数据，其性能也已经可以媲美，甚至在某些数据集上超越了像DSAM这样使用100%标注数据的全监督SOTA模型。</a:t>
            </a:r>
          </a:p>
          <a:p>
            <a:pPr algn="l" indent="0">
              <a:lnSpc>
                <a:spcPct val="100000"/>
              </a:lnSpc>
            </a:pPr>
            <a:r>
              <a:rPr lang="en-US" b="false" i="false" strike="noStrike" u="none" sz="1400">
                <a:solidFill>
                  <a:srgbClr val="000000"/>
                </a:solidFill>
              </a:rPr>
              <a:t>这些数据有力地证明了ST-SAM在提升标注效率和降低数据依赖方面的巨大潜力，为解决实际应用中数据标注成本高昂的问题提供了一个非常有效的解决方案。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这一页，我们通过定性对比来直观展示ST-SAM的分割效果。大家可以看到，页面上展示了三组典型的伪装场景。</a:t>
            </a:r>
          </a:p>
          <a:p>
            <a:pPr algn="l" indent="0">
              <a:lnSpc>
                <a:spcPct val="100000"/>
              </a:lnSpc>
            </a:pPr>
            <a:r>
              <a:rPr lang="en-US" b="false" i="false" strike="noStrike" u="none" sz="1400">
                <a:solidFill>
                  <a:srgbClr val="000000"/>
                </a:solidFill>
              </a:rPr>
              <a:t>每一行从左到右依次是：原始输入图像、真实标签（GT）、两种主流半监督方法CamoTeacher和SSCOD的结果，以及我们的ST-SAM的预测结果。</a:t>
            </a:r>
          </a:p>
          <a:p>
            <a:pPr algn="l" indent="0">
              <a:lnSpc>
                <a:spcPct val="100000"/>
              </a:lnSpc>
            </a:pPr>
            <a:r>
              <a:rPr lang="en-US" b="false" i="false" strike="noStrike" u="none" sz="1400">
                <a:solidFill>
                  <a:srgbClr val="000000"/>
                </a:solidFill>
              </a:rPr>
              <a:t>值得注意的是，其他半监督方法使用了20%的标注数据，而我们的方法仅使用了1%。但从视觉上看，ST-SAM的结果却更为出色。它能够更精准地捕捉到伪装目标的完整轮廓，尤其是在处理小目标、复杂背景或目标被部分遮挡的困难场景时，优势非常明显。相比之下，其他方法的结果往往存在欠分割、过分割或边界模糊的问题。</a:t>
            </a:r>
          </a:p>
          <a:p>
            <a:pPr algn="l" indent="0">
              <a:lnSpc>
                <a:spcPct val="100000"/>
              </a:lnSpc>
            </a:pPr>
            <a:r>
              <a:rPr lang="en-US" b="false" i="false" strike="noStrike" u="none" sz="1400">
                <a:solidFill>
                  <a:srgbClr val="000000"/>
                </a:solidFill>
              </a:rPr>
              <a:t>总而言之，我们的ST-SAM在极少的标注数据下，取得了接近甚至超越全监督SOTA方法的性能，证明了其高效的学习能力和在伪装分割任务中的巨大潜力。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这一页，我们通过消融实验来验证模型各个组件的贡献。实验目的是明确我们提出的EDF和DPC模块是否是性能提升的关键。</a:t>
            </a:r>
          </a:p>
          <a:p>
            <a:pPr algn="l" indent="0">
              <a:lnSpc>
                <a:spcPct val="100000"/>
              </a:lnSpc>
            </a:pPr>
            <a:r>
              <a:rPr lang="en-US" b="false" i="false" strike="noStrike" u="none" sz="1400">
                <a:solidFill>
                  <a:srgbClr val="000000"/>
                </a:solidFill>
              </a:rPr>
              <a:t>表格展示了五种不同模型变体在Fβ^ω指标上的性能。首先，我们的基线模型在仅使用1%标注数据的情况下达到了65.2%。加入传统的自训练策略后，性能提升到68.9%。</a:t>
            </a:r>
          </a:p>
          <a:p>
            <a:pPr algn="l" indent="0">
              <a:lnSpc>
                <a:spcPct val="100000"/>
              </a:lnSpc>
            </a:pPr>
            <a:r>
              <a:rPr lang="en-US" b="false" i="false" strike="noStrike" u="none" sz="1400">
                <a:solidFill>
                  <a:srgbClr val="000000"/>
                </a:solidFill>
              </a:rPr>
              <a:t>接下来是关键的消融实验。当我们只加入EDF边缘细节融合模块时，性能显著提升至72.5%。同样，仅加入DPC动态提示校准模块，性能达到了74.1%。这有力地证明了我们设计的每个模块都是有效的。</a:t>
            </a:r>
          </a:p>
          <a:p>
            <a:pPr algn="l" indent="0">
              <a:lnSpc>
                <a:spcPct val="100000"/>
              </a:lnSpc>
            </a:pPr>
            <a:r>
              <a:rPr lang="en-US" b="false" i="false" strike="noStrike" u="none" sz="1400">
                <a:solidFill>
                  <a:srgbClr val="000000"/>
                </a:solidFill>
              </a:rPr>
              <a:t>最后，当我们将EDF和DPC模块同时集成到模型中，即我们的完整模型ST-SAM，性能达到了78.6%的最佳水平。这不仅超过了所有变体，也证明了两个模块之间能够产生积极的协同效应，共同推动模型性能达到新的高度。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在这一页，我们对本研究进行总结，并对未来工作进行展望。</a:t>
            </a:r>
          </a:p>
          <a:p>
            <a:pPr algn="l" indent="0">
              <a:lnSpc>
                <a:spcPct val="100000"/>
              </a:lnSpc>
            </a:pPr>
            <a:r>
              <a:rPr lang="en-US" b="false" i="false" strike="noStrike" u="none" sz="1400">
                <a:solidFill>
                  <a:srgbClr val="000000"/>
                </a:solidFill>
              </a:rPr>
              <a:t>首先，关于主要贡献。第一，我们提出了一种新的范式，首次将自训练策略与SAM结合用于半监督伪装目标检测。第二，我们的方法极具高效性，在仅使用1%标注数据的情况下，性能就超越了现有的SOTA方法，这极大地降低了对昂贵标注数据的需求。第三，我们的框架具有很强的扩展性，不依赖于特定的网络结构或损失函数，可以灵活地应用于各种场景。</a:t>
            </a:r>
          </a:p>
          <a:p>
            <a:pPr algn="l" indent="0">
              <a:lnSpc>
                <a:spcPct val="100000"/>
              </a:lnSpc>
            </a:pPr>
            <a:r>
              <a:rPr lang="en-US" b="false" i="false" strike="noStrike" u="none" sz="1400">
                <a:solidFill>
                  <a:srgbClr val="000000"/>
                </a:solidFill>
              </a:rPr>
              <a:t>接下来是未来的工作方向。我们计划从三个方面展开：首先，将我们的方法扩展到更复杂的场景，例如视频伪装目标检测。其次，我们将深入研究提示工程，探索更有效的提示生成策略来进一步提升SAM的性能。最后，为了促进实际应用，我们将致力于减少模型的计算量，探索轻量级的SAM变体或知识蒸馏技术。</a:t>
            </a:r>
          </a:p>
          <a:p>
            <a:pPr algn="l" indent="0">
              <a:lnSpc>
                <a:spcPct val="100000"/>
              </a:lnSpc>
            </a:pPr>
            <a:r>
              <a:rPr lang="en-US" b="false" i="false" strike="noStrike" u="none" sz="1400">
                <a:solidFill>
                  <a:srgbClr val="000000"/>
                </a:solidFill>
              </a:rPr>
              <a:t>总而言之，本研究为半监督伪装目标检测提供了新的思路和高效的解决方案，同时也为未来的研究开辟了广阔的空间。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非常感谢大家的聆听。我的分享到此结束。接下来是问答环节，欢迎大家提问交流。如果需要进一步联系或查看项目代码，可以通过屏幕上的方式找到我。再次感谢！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9.xml" Type="http://schemas.openxmlformats.org/officeDocument/2006/relationships/notesSlide"/><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14" Target="../notesSlides/notesSlide11.xml" Type="http://schemas.openxmlformats.org/officeDocument/2006/relationships/notesSlid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notesSlides/notesSlide12.xml" Type="http://schemas.openxmlformats.org/officeDocument/2006/relationships/notesSlide"/><Relationship Id="rId7" Target="../media/image43.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2032000"/>
            <a:ext cx="109728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000080"/>
                </a:solidFill>
                <a:latin typeface="Noto Sans SC"/>
                <a:ea typeface="Noto Sans SC"/>
                <a:cs typeface="Noto Sans SC"/>
                <a:sym typeface="Noto Sans SC"/>
              </a:rPr>
              <a:t>ST-SAM: SAM-Driven Self-Training Framework for Semi-Supervised Camouflaged Object Detection</a:t>
            </a:r>
            <a:endParaRPr lang="en-US" sz="1100"/>
          </a:p>
        </p:txBody>
      </p:sp>
      <p:cxnSp>
        <p:nvCxnSpPr>
          <p:cNvPr name="Connector 3" id="3"/>
          <p:cNvCxnSpPr/>
          <p:nvPr/>
        </p:nvCxnSpPr>
        <p:spPr>
          <a:xfrm rot="-17188" flipH="false" flipV="false">
            <a:off x="4826016" y="3041650"/>
            <a:ext cx="2540000" cy="12700"/>
          </a:xfrm>
          <a:prstGeom prst="straightConnector1">
            <a:avLst/>
          </a:prstGeom>
          <a:solidFill>
            <a:srgbClr val="DEE0E3">
              <a:alpha val="100000"/>
            </a:srgbClr>
          </a:solidFill>
          <a:ln w="12700" cmpd="sng" cap="flat">
            <a:solidFill>
              <a:srgbClr val="808080">
                <a:alpha val="100000"/>
              </a:srgbClr>
            </a:solidFill>
            <a:prstDash val="solid"/>
            <a:round/>
            <a:headEnd type="none" w="med" len="med"/>
            <a:tailEnd type="none" w="med" len="med"/>
          </a:ln>
        </p:spPr>
      </p:cxnSp>
      <p:sp>
        <p:nvSpPr>
          <p:cNvPr name="AutoShape 4" id="4"/>
          <p:cNvSpPr/>
          <p:nvPr/>
        </p:nvSpPr>
        <p:spPr>
          <a:xfrm rot="0" flipH="false" flipV="false">
            <a:off x="609600" y="3429000"/>
            <a:ext cx="10972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808080"/>
                </a:solidFill>
                <a:latin typeface="Noto Sans SC"/>
                <a:ea typeface="Noto Sans SC"/>
                <a:cs typeface="Noto Sans SC"/>
                <a:sym typeface="Noto Sans SC"/>
              </a:rPr>
              <a:t>[论文作者]</a:t>
            </a:r>
            <a:endParaRPr lang="en-US" sz="1100"/>
          </a:p>
        </p:txBody>
      </p:sp>
      <p:sp>
        <p:nvSpPr>
          <p:cNvPr name="AutoShape 5" id="5"/>
          <p:cNvSpPr/>
          <p:nvPr/>
        </p:nvSpPr>
        <p:spPr>
          <a:xfrm rot="0" flipH="false" flipV="false">
            <a:off x="609600" y="3937000"/>
            <a:ext cx="10972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808080"/>
                </a:solidFill>
                <a:latin typeface="Noto Sans SC"/>
                <a:ea typeface="Noto Sans SC"/>
                <a:cs typeface="Noto Sans SC"/>
                <a:sym typeface="Noto Sans SC"/>
              </a:rPr>
              <a:t>[作者机构]</a:t>
            </a:r>
            <a:endParaRPr lang="en-US" sz="1100"/>
          </a:p>
        </p:txBody>
      </p:sp>
      <p:sp>
        <p:nvSpPr>
          <p:cNvPr name="AutoShape 6" id="6"/>
          <p:cNvSpPr/>
          <p:nvPr/>
        </p:nvSpPr>
        <p:spPr>
          <a:xfrm rot="0" flipH="false" flipV="false">
            <a:off x="609600" y="4445000"/>
            <a:ext cx="10972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808080"/>
                </a:solidFill>
                <a:latin typeface="Noto Sans SC"/>
                <a:ea typeface="Noto Sans SC"/>
                <a:cs typeface="Noto Sans SC"/>
                <a:sym typeface="Noto Sans SC"/>
              </a:rPr>
              <a:t>[演示日期]</a:t>
            </a:r>
            <a:endParaRPr lang="en-US" sz="1100"/>
          </a:p>
        </p:txBody>
      </p:sp>
      <p:sp>
        <p:nvSpPr>
          <p:cNvPr name="AutoShape 7" id="7"/>
          <p:cNvSpPr/>
          <p:nvPr/>
        </p:nvSpPr>
        <p:spPr>
          <a:xfrm rot="0" flipH="false" flipV="false">
            <a:off x="609600" y="5334000"/>
            <a:ext cx="109728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核心思想：利用自训练策略和SAM模型，在极少标注数据下实现高效的伪装目标检测</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254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0080"/>
                </a:solidFill>
                <a:latin typeface="Noto Sans SC"/>
                <a:ea typeface="Noto Sans SC"/>
                <a:cs typeface="Noto Sans SC"/>
                <a:sym typeface="Noto Sans SC"/>
              </a:rPr>
              <a:t>目录</a:t>
            </a:r>
            <a:endParaRPr lang="en-US" sz="1100"/>
          </a:p>
        </p:txBody>
      </p:sp>
      <p:cxnSp>
        <p:nvCxnSpPr>
          <p:cNvPr name="Connector 3" id="3"/>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2032000"/>
            <a:ext cx="50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80"/>
                </a:solidFill>
                <a:latin typeface="Noto Sans SC"/>
                <a:ea typeface="Noto Sans SC"/>
                <a:cs typeface="Noto Sans SC"/>
                <a:sym typeface="Noto Sans SC"/>
              </a:rPr>
              <a:t>01</a:t>
            </a:r>
            <a:endParaRPr lang="en-US" sz="1100"/>
          </a:p>
        </p:txBody>
      </p:sp>
      <p:sp>
        <p:nvSpPr>
          <p:cNvPr name="AutoShape 5" id="5"/>
          <p:cNvSpPr/>
          <p:nvPr/>
        </p:nvSpPr>
        <p:spPr>
          <a:xfrm rot="0" flipH="false" flipV="false">
            <a:off x="1778000" y="2032000"/>
            <a:ext cx="914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引言</a:t>
            </a:r>
            <a:endParaRPr lang="en-US" sz="1100"/>
          </a:p>
        </p:txBody>
      </p:sp>
      <p:sp>
        <p:nvSpPr>
          <p:cNvPr name="AutoShape 6" id="6"/>
          <p:cNvSpPr/>
          <p:nvPr/>
        </p:nvSpPr>
        <p:spPr>
          <a:xfrm rot="0" flipH="false" flipV="false">
            <a:off x="1778000" y="2413000"/>
            <a:ext cx="914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08080"/>
                </a:solidFill>
                <a:latin typeface="Noto Sans SC"/>
                <a:ea typeface="Noto Sans SC"/>
                <a:cs typeface="Noto Sans SC"/>
                <a:sym typeface="Noto Sans SC"/>
              </a:rPr>
              <a:t>伪装目标检测的挑战与半监督学习的机遇</a:t>
            </a:r>
            <a:endParaRPr lang="en-US" sz="1100"/>
          </a:p>
        </p:txBody>
      </p:sp>
      <p:sp>
        <p:nvSpPr>
          <p:cNvPr name="AutoShape 7" id="7"/>
          <p:cNvSpPr/>
          <p:nvPr/>
        </p:nvSpPr>
        <p:spPr>
          <a:xfrm rot="0" flipH="false" flipV="false">
            <a:off x="1016000" y="3048000"/>
            <a:ext cx="50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80"/>
                </a:solidFill>
                <a:latin typeface="Noto Sans SC"/>
                <a:ea typeface="Noto Sans SC"/>
                <a:cs typeface="Noto Sans SC"/>
                <a:sym typeface="Noto Sans SC"/>
              </a:rPr>
              <a:t>02</a:t>
            </a:r>
            <a:endParaRPr lang="en-US" sz="1100"/>
          </a:p>
        </p:txBody>
      </p:sp>
      <p:sp>
        <p:nvSpPr>
          <p:cNvPr name="AutoShape 8" id="8"/>
          <p:cNvSpPr/>
          <p:nvPr/>
        </p:nvSpPr>
        <p:spPr>
          <a:xfrm rot="0" flipH="false" flipV="false">
            <a:off x="1778000" y="3048000"/>
            <a:ext cx="914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相关工作</a:t>
            </a:r>
            <a:endParaRPr lang="en-US" sz="1100"/>
          </a:p>
        </p:txBody>
      </p:sp>
      <p:sp>
        <p:nvSpPr>
          <p:cNvPr name="AutoShape 9" id="9"/>
          <p:cNvSpPr/>
          <p:nvPr/>
        </p:nvSpPr>
        <p:spPr>
          <a:xfrm rot="0" flipH="false" flipV="false">
            <a:off x="1778000" y="3429000"/>
            <a:ext cx="914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08080"/>
                </a:solidFill>
                <a:latin typeface="Noto Sans SC"/>
                <a:ea typeface="Noto Sans SC"/>
                <a:cs typeface="Noto Sans SC"/>
                <a:sym typeface="Noto Sans SC"/>
              </a:rPr>
              <a:t>现有半监督伪装目标检测方法的局限性</a:t>
            </a:r>
            <a:endParaRPr lang="en-US" sz="1100"/>
          </a:p>
        </p:txBody>
      </p:sp>
      <p:sp>
        <p:nvSpPr>
          <p:cNvPr name="AutoShape 10" id="10"/>
          <p:cNvSpPr/>
          <p:nvPr/>
        </p:nvSpPr>
        <p:spPr>
          <a:xfrm rot="0" flipH="false" flipV="false">
            <a:off x="1016000" y="4064000"/>
            <a:ext cx="50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80"/>
                </a:solidFill>
                <a:latin typeface="Noto Sans SC"/>
                <a:ea typeface="Noto Sans SC"/>
                <a:cs typeface="Noto Sans SC"/>
                <a:sym typeface="Noto Sans SC"/>
              </a:rPr>
              <a:t>03</a:t>
            </a:r>
            <a:endParaRPr lang="en-US" sz="1100"/>
          </a:p>
        </p:txBody>
      </p:sp>
      <p:sp>
        <p:nvSpPr>
          <p:cNvPr name="AutoShape 11" id="11"/>
          <p:cNvSpPr/>
          <p:nvPr/>
        </p:nvSpPr>
        <p:spPr>
          <a:xfrm rot="0" flipH="false" flipV="false">
            <a:off x="1778000" y="4064000"/>
            <a:ext cx="914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ST-SAM方法</a:t>
            </a:r>
            <a:endParaRPr lang="en-US" sz="1100"/>
          </a:p>
        </p:txBody>
      </p:sp>
      <p:sp>
        <p:nvSpPr>
          <p:cNvPr name="AutoShape 12" id="12"/>
          <p:cNvSpPr/>
          <p:nvPr/>
        </p:nvSpPr>
        <p:spPr>
          <a:xfrm rot="0" flipH="false" flipV="false">
            <a:off x="1778000" y="4445000"/>
            <a:ext cx="914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08080"/>
                </a:solidFill>
                <a:latin typeface="Noto Sans SC"/>
                <a:ea typeface="Noto Sans SC"/>
                <a:cs typeface="Noto Sans SC"/>
                <a:sym typeface="Noto Sans SC"/>
              </a:rPr>
              <a:t>我们提出的自训练框架与核心模块</a:t>
            </a:r>
            <a:endParaRPr lang="en-US" sz="1100"/>
          </a:p>
        </p:txBody>
      </p:sp>
      <p:sp>
        <p:nvSpPr>
          <p:cNvPr name="AutoShape 13" id="13"/>
          <p:cNvSpPr/>
          <p:nvPr/>
        </p:nvSpPr>
        <p:spPr>
          <a:xfrm rot="0" flipH="false" flipV="false">
            <a:off x="1016000" y="5080000"/>
            <a:ext cx="50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80"/>
                </a:solidFill>
                <a:latin typeface="Noto Sans SC"/>
                <a:ea typeface="Noto Sans SC"/>
                <a:cs typeface="Noto Sans SC"/>
                <a:sym typeface="Noto Sans SC"/>
              </a:rPr>
              <a:t>04</a:t>
            </a:r>
            <a:endParaRPr lang="en-US" sz="1100"/>
          </a:p>
        </p:txBody>
      </p:sp>
      <p:sp>
        <p:nvSpPr>
          <p:cNvPr name="AutoShape 14" id="14"/>
          <p:cNvSpPr/>
          <p:nvPr/>
        </p:nvSpPr>
        <p:spPr>
          <a:xfrm rot="0" flipH="false" flipV="false">
            <a:off x="1778000" y="5080000"/>
            <a:ext cx="914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实验结果</a:t>
            </a:r>
            <a:endParaRPr lang="en-US" sz="1100"/>
          </a:p>
        </p:txBody>
      </p:sp>
      <p:sp>
        <p:nvSpPr>
          <p:cNvPr name="AutoShape 15" id="15"/>
          <p:cNvSpPr/>
          <p:nvPr/>
        </p:nvSpPr>
        <p:spPr>
          <a:xfrm rot="0" flipH="false" flipV="false">
            <a:off x="1778000" y="5461000"/>
            <a:ext cx="914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08080"/>
                </a:solidFill>
                <a:latin typeface="Noto Sans SC"/>
                <a:ea typeface="Noto Sans SC"/>
                <a:cs typeface="Noto Sans SC"/>
                <a:sym typeface="Noto Sans SC"/>
              </a:rPr>
              <a:t>在多个基准数据集上的性能验证</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0080"/>
                </a:solidFill>
                <a:latin typeface="Noto Sans SC"/>
                <a:ea typeface="Noto Sans SC"/>
                <a:cs typeface="Noto Sans SC"/>
                <a:sym typeface="Noto Sans SC"/>
              </a:rPr>
              <a:t>引言：伪装目标检测 (COD)</a:t>
            </a:r>
            <a:endParaRPr lang="en-US" sz="1100"/>
          </a:p>
        </p:txBody>
      </p:sp>
      <p:cxnSp>
        <p:nvCxnSpPr>
          <p:cNvPr name="Connector 3" id="3"/>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304800" cy="304800"/>
          </a:xfrm>
          <a:prstGeom prst="rect">
            <a:avLst/>
          </a:prstGeom>
        </p:spPr>
      </p:pic>
      <p:sp>
        <p:nvSpPr>
          <p:cNvPr name="AutoShape 5" id="5"/>
          <p:cNvSpPr/>
          <p:nvPr/>
        </p:nvSpPr>
        <p:spPr>
          <a:xfrm rot="0" flipH="false" flipV="false">
            <a:off x="1524000" y="18542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任务定义</a:t>
            </a:r>
            <a:endParaRPr lang="en-US" sz="1100"/>
          </a:p>
        </p:txBody>
      </p:sp>
      <p:sp>
        <p:nvSpPr>
          <p:cNvPr name="AutoShape 6" id="6"/>
          <p:cNvSpPr/>
          <p:nvPr/>
        </p:nvSpPr>
        <p:spPr>
          <a:xfrm rot="0" flipH="false" flipV="false">
            <a:off x="1524000" y="22098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在复杂场景中精确地定位和分割与背景高度相似的伪装目标。</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984500"/>
            <a:ext cx="304800" cy="304800"/>
          </a:xfrm>
          <a:prstGeom prst="rect">
            <a:avLst/>
          </a:prstGeom>
        </p:spPr>
      </p:pic>
      <p:sp>
        <p:nvSpPr>
          <p:cNvPr name="AutoShape 8" id="8"/>
          <p:cNvSpPr/>
          <p:nvPr/>
        </p:nvSpPr>
        <p:spPr>
          <a:xfrm rot="0" flipH="false" flipV="false">
            <a:off x="1524000" y="29972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核心挑战</a:t>
            </a:r>
            <a:endParaRPr lang="en-US" sz="1100"/>
          </a:p>
        </p:txBody>
      </p:sp>
      <p:sp>
        <p:nvSpPr>
          <p:cNvPr name="AutoShape 9" id="9"/>
          <p:cNvSpPr/>
          <p:nvPr/>
        </p:nvSpPr>
        <p:spPr>
          <a:xfrm rot="0" flipH="false" flipV="false">
            <a:off x="1524000" y="3352800"/>
            <a:ext cx="457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纹理相似性、轮廓复杂性及目标尺度变化大，导致检测难度极高。</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254500"/>
            <a:ext cx="304800" cy="304800"/>
          </a:xfrm>
          <a:prstGeom prst="rect">
            <a:avLst/>
          </a:prstGeom>
        </p:spPr>
      </p:pic>
      <p:sp>
        <p:nvSpPr>
          <p:cNvPr name="AutoShape 11" id="11"/>
          <p:cNvSpPr/>
          <p:nvPr/>
        </p:nvSpPr>
        <p:spPr>
          <a:xfrm rot="0" flipH="false" flipV="false">
            <a:off x="1524000" y="42672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应用价值</a:t>
            </a:r>
            <a:endParaRPr lang="en-US" sz="1100"/>
          </a:p>
        </p:txBody>
      </p:sp>
      <p:sp>
        <p:nvSpPr>
          <p:cNvPr name="AutoShape 12" id="12"/>
          <p:cNvSpPr/>
          <p:nvPr/>
        </p:nvSpPr>
        <p:spPr>
          <a:xfrm rot="0" flipH="false" flipV="false">
            <a:off x="1524000" y="46228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在军事侦察、野生动物保护、智能安防等领域具有重要应用。</a:t>
            </a:r>
            <a:endParaRPr lang="en-US" sz="1100"/>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270500"/>
            <a:ext cx="304800" cy="304800"/>
          </a:xfrm>
          <a:prstGeom prst="rect">
            <a:avLst/>
          </a:prstGeom>
        </p:spPr>
      </p:pic>
      <p:sp>
        <p:nvSpPr>
          <p:cNvPr name="AutoShape 14" id="14"/>
          <p:cNvSpPr/>
          <p:nvPr/>
        </p:nvSpPr>
        <p:spPr>
          <a:xfrm rot="0" flipH="false" flipV="false">
            <a:off x="1524000" y="52832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数据瓶颈</a:t>
            </a:r>
            <a:endParaRPr lang="en-US" sz="1100"/>
          </a:p>
        </p:txBody>
      </p:sp>
      <p:sp>
        <p:nvSpPr>
          <p:cNvPr name="AutoShape 15" id="15"/>
          <p:cNvSpPr/>
          <p:nvPr/>
        </p:nvSpPr>
        <p:spPr>
          <a:xfrm rot="0" flipH="false" flipV="false">
            <a:off x="1524000" y="5638800"/>
            <a:ext cx="4572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高质量像素级标注数据稀缺，限制了研究的深入发展。</a:t>
            </a:r>
            <a:endParaRPr lang="en-US" sz="1100"/>
          </a:p>
        </p:txBody>
      </p:sp>
      <p:cxnSp>
        <p:nvCxnSpPr>
          <p:cNvPr name="Connector 16" id="16"/>
          <p:cNvCxnSpPr/>
          <p:nvPr/>
        </p:nvCxnSpPr>
        <p:spPr>
          <a:xfrm rot="5389422" flipH="false" flipV="false">
            <a:off x="4032250" y="3898910"/>
            <a:ext cx="4127500" cy="12700"/>
          </a:xfrm>
          <a:prstGeom prst="straightConnector1">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17" id="17"/>
          <p:cNvSpPr/>
          <p:nvPr/>
        </p:nvSpPr>
        <p:spPr>
          <a:xfrm rot="0" flipH="false" flipV="false">
            <a:off x="6604000" y="2032000"/>
            <a:ext cx="4572000" cy="3048000"/>
          </a:xfrm>
          <a:prstGeom prst="roundRect">
            <a:avLst>
              <a:gd name="adj" fmla="val 3333"/>
            </a:avLst>
          </a:prstGeom>
          <a:solidFill>
            <a:srgbClr val="F3F4F6">
              <a:alpha val="100000"/>
            </a:srgbClr>
          </a:solidFill>
          <a:ln w="12700" cmpd="sng" cap="flat">
            <a:solidFill>
              <a:srgbClr val="D1D5DB">
                <a:alpha val="100000"/>
              </a:srgbClr>
            </a:solidFill>
            <a:prstDash val="dash"/>
            <a:round/>
          </a:ln>
        </p:spPr>
        <p:txBody>
          <a:bodyPr anchor="ctr" rtlCol="false" anchorCtr="false" vert="horz" wrap="square" lIns="0" rIns="0" tIns="0" bIns="0"/>
          <a:lstStyle/>
          <a:p>
            <a:pPr algn="ctr" indent="0">
              <a:lnSpc>
                <a:spcPct val="125000"/>
              </a:lnSpc>
              <a:defRPr/>
            </a:pPr>
            <a:r>
              <a:rPr lang="en-US" b="false" i="false" strike="noStrike" u="none" sz="1400">
                <a:solidFill>
                  <a:srgbClr val="9CA3AF"/>
                </a:solidFill>
                <a:latin typeface="Noto Sans SC"/>
                <a:ea typeface="Noto Sans SC"/>
                <a:cs typeface="Noto Sans SC"/>
                <a:sym typeface="Noto Sans SC"/>
              </a:rPr>
              <a:t>请在此处插入一张</a:t>
            </a:r>
            <a:r>
              <a:rPr lang="en-US" b="false" i="false" strike="noStrike" u="none" sz="1400">
                <a:solidFill>
                  <a:srgbClr val="9CA3AF"/>
                </a:solidFill>
                <a:latin typeface="Noto Sans SC"/>
                <a:ea typeface="Noto Sans SC"/>
                <a:cs typeface="Noto Sans SC"/>
                <a:sym typeface="Noto Sans SC"/>
              </a:rPr>
              <a:t/>
            </a:r>
            <a:br>
              <a:rPr lang="en-US" b="false" i="false" strike="noStrike" u="none" sz="1400">
                <a:solidFill>
                  <a:srgbClr val="9CA3AF"/>
                </a:solidFill>
                <a:latin typeface="Noto Sans SC"/>
                <a:ea typeface="Noto Sans SC"/>
                <a:cs typeface="Noto Sans SC"/>
                <a:sym typeface="Noto Sans SC"/>
              </a:rPr>
            </a:br>
            <a:r>
              <a:rPr lang="en-US" b="false" i="false" strike="noStrike" u="none" sz="1400">
                <a:solidFill>
                  <a:srgbClr val="9CA3AF"/>
                </a:solidFill>
                <a:latin typeface="Noto Sans SC"/>
                <a:ea typeface="Noto Sans SC"/>
                <a:cs typeface="Noto Sans SC"/>
                <a:sym typeface="Noto Sans SC"/>
              </a:rPr>
              <a:t>高质量的动物伪装图片</a:t>
            </a:r>
            <a:endParaRPr lang="en-US" sz="1100"/>
          </a:p>
        </p:txBody>
      </p:sp>
      <p:sp>
        <p:nvSpPr>
          <p:cNvPr name="AutoShape 18" id="18"/>
          <p:cNvSpPr/>
          <p:nvPr/>
        </p:nvSpPr>
        <p:spPr>
          <a:xfrm rot="0" flipH="false" flipV="false">
            <a:off x="6604000" y="5270500"/>
            <a:ext cx="4572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808080"/>
                </a:solidFill>
                <a:latin typeface="Noto Sans SC"/>
                <a:ea typeface="Noto Sans SC"/>
                <a:cs typeface="Noto Sans SC"/>
                <a:sym typeface="Noto Sans SC"/>
              </a:rPr>
              <a:t>图示：竹节虫完美融入环境，直观展示COD任务的挑战性</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0080"/>
                </a:solidFill>
                <a:latin typeface="Noto Sans SC"/>
                <a:ea typeface="Noto Sans SC"/>
                <a:cs typeface="Noto Sans SC"/>
                <a:sym typeface="Noto Sans SC"/>
              </a:rPr>
              <a:t>引言：半监督学习 (SSL) 的机遇</a:t>
            </a:r>
            <a:endParaRPr lang="en-US" sz="1100"/>
          </a:p>
        </p:txBody>
      </p:sp>
      <p:cxnSp>
        <p:nvCxnSpPr>
          <p:cNvPr name="Connector 3" id="3"/>
          <p:cNvCxnSpPr/>
          <p:nvPr/>
        </p:nvCxnSpPr>
        <p:spPr>
          <a:xfrm rot="-4297" flipH="false" flipV="false">
            <a:off x="1016004" y="15176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18288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80"/>
                </a:solidFill>
                <a:latin typeface="Noto Sans SC"/>
                <a:ea typeface="Noto Sans SC"/>
                <a:cs typeface="Noto Sans SC"/>
                <a:sym typeface="Noto Sans SC"/>
              </a:rPr>
              <a:t>基本思想</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0080"/>
                </a:solidFill>
                <a:latin typeface="Noto Sans SC"/>
                <a:ea typeface="Noto Sans SC"/>
                <a:cs typeface="Noto Sans SC"/>
                <a:sym typeface="Noto Sans SC"/>
              </a:rPr>
              <a:t>3. ST-SAM: 整体框架</a:t>
            </a:r>
            <a:endParaRPr lang="en-US" sz="1100"/>
          </a:p>
        </p:txBody>
      </p:sp>
      <p:cxnSp>
        <p:nvCxnSpPr>
          <p:cNvPr name="Connector 3" id="3"/>
          <p:cNvCxnSpPr/>
          <p:nvPr/>
        </p:nvCxnSpPr>
        <p:spPr>
          <a:xfrm rot="-4297" flipH="false" flipV="false">
            <a:off x="1016004" y="13906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17780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0080"/>
                </a:solidFill>
                <a:latin typeface="Noto Sans SC"/>
                <a:ea typeface="Noto Sans SC"/>
                <a:cs typeface="Noto Sans SC"/>
                <a:sym typeface="Noto Sans SC"/>
              </a:rPr>
              <a:t>核心策略与组成</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336800"/>
            <a:ext cx="304800" cy="304800"/>
          </a:xfrm>
          <a:prstGeom prst="rect">
            <a:avLst/>
          </a:prstGeom>
        </p:spPr>
      </p:pic>
      <p:sp>
        <p:nvSpPr>
          <p:cNvPr name="AutoShape 6" id="6"/>
          <p:cNvSpPr/>
          <p:nvPr/>
        </p:nvSpPr>
        <p:spPr>
          <a:xfrm rot="0" flipH="false" flipV="false">
            <a:off x="1473200" y="23368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COD 网络 (Net)</a:t>
            </a:r>
            <a:endParaRPr lang="en-US" sz="1100"/>
          </a:p>
        </p:txBody>
      </p:sp>
      <p:sp>
        <p:nvSpPr>
          <p:cNvPr name="AutoShape 7" id="7"/>
          <p:cNvSpPr/>
          <p:nvPr/>
        </p:nvSpPr>
        <p:spPr>
          <a:xfrm rot="0" flipH="false" flipV="false">
            <a:off x="1473200" y="2692400"/>
            <a:ext cx="4064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基础的编码器-解码器结构，用于学习伪装目标检测任务。</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505200"/>
            <a:ext cx="304800" cy="304800"/>
          </a:xfrm>
          <a:prstGeom prst="rect">
            <a:avLst/>
          </a:prstGeom>
        </p:spPr>
      </p:pic>
      <p:sp>
        <p:nvSpPr>
          <p:cNvPr name="AutoShape 9" id="9"/>
          <p:cNvSpPr/>
          <p:nvPr/>
        </p:nvSpPr>
        <p:spPr>
          <a:xfrm rot="0" flipH="false" flipV="false">
            <a:off x="1473200" y="35052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熵动态过滤 (EDF)</a:t>
            </a:r>
            <a:endParaRPr lang="en-US" sz="1100"/>
          </a:p>
        </p:txBody>
      </p:sp>
      <p:sp>
        <p:nvSpPr>
          <p:cNvPr name="AutoShape 10" id="10"/>
          <p:cNvSpPr/>
          <p:nvPr/>
        </p:nvSpPr>
        <p:spPr>
          <a:xfrm rot="0" flipH="false" flipV="false">
            <a:off x="1473200" y="3860800"/>
            <a:ext cx="4064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清洗并动态扩展初始伪标签，确保训练数据质量。</a:t>
            </a:r>
            <a:endParaRPr lang="en-US" sz="1100"/>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673600"/>
            <a:ext cx="304800" cy="304800"/>
          </a:xfrm>
          <a:prstGeom prst="rect">
            <a:avLst/>
          </a:prstGeom>
        </p:spPr>
      </p:pic>
      <p:sp>
        <p:nvSpPr>
          <p:cNvPr name="AutoShape 12" id="12"/>
          <p:cNvSpPr/>
          <p:nvPr/>
        </p:nvSpPr>
        <p:spPr>
          <a:xfrm rot="0" flipH="false" flipV="false">
            <a:off x="1473200" y="46736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领域提示引导 (DPC)</a:t>
            </a:r>
            <a:endParaRPr lang="en-US" sz="1100"/>
          </a:p>
        </p:txBody>
      </p:sp>
      <p:sp>
        <p:nvSpPr>
          <p:cNvPr name="AutoShape 13" id="13"/>
          <p:cNvSpPr/>
          <p:nvPr/>
        </p:nvSpPr>
        <p:spPr>
          <a:xfrm rot="0" flipH="false" flipV="false">
            <a:off x="1473200" y="5029200"/>
            <a:ext cx="4064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将伪标签转化为提示，引导SAM生成高质量标签并相互校正。</a:t>
            </a:r>
            <a:endParaRPr lang="en-US" sz="1100"/>
          </a:p>
        </p:txBody>
      </p:sp>
      <p:cxnSp>
        <p:nvCxnSpPr>
          <p:cNvPr name="Connector 14" id="14"/>
          <p:cNvCxnSpPr/>
          <p:nvPr/>
        </p:nvCxnSpPr>
        <p:spPr>
          <a:xfrm rot="5388540" flipH="false" flipV="false">
            <a:off x="3937000" y="3676661"/>
            <a:ext cx="3810000" cy="12700"/>
          </a:xfrm>
          <a:prstGeom prst="straightConnector1">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15" id="15"/>
          <p:cNvSpPr/>
          <p:nvPr/>
        </p:nvSpPr>
        <p:spPr>
          <a:xfrm rot="0" flipH="false" flipV="false">
            <a:off x="6223000" y="1778000"/>
            <a:ext cx="508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0080"/>
                </a:solidFill>
                <a:latin typeface="Noto Sans SC"/>
                <a:ea typeface="Noto Sans SC"/>
                <a:cs typeface="Noto Sans SC"/>
                <a:sym typeface="Noto Sans SC"/>
              </a:rPr>
              <a:t>模型架构图</a:t>
            </a:r>
            <a:endParaRPr lang="en-US" sz="1100"/>
          </a:p>
        </p:txBody>
      </p:sp>
      <p:sp>
        <p:nvSpPr>
          <p:cNvPr name="AutoShape 16" id="16"/>
          <p:cNvSpPr/>
          <p:nvPr/>
        </p:nvSpPr>
        <p:spPr>
          <a:xfrm rot="0" flipH="false" flipV="false">
            <a:off x="6223000" y="2286000"/>
            <a:ext cx="5080000" cy="2794000"/>
          </a:xfrm>
          <a:prstGeom prst="roundRect">
            <a:avLst>
              <a:gd name="adj" fmla="val 3636"/>
            </a:avLst>
          </a:prstGeom>
          <a:solidFill>
            <a:srgbClr val="F3F4F6">
              <a:alpha val="100000"/>
            </a:srgbClr>
          </a:solidFill>
          <a:ln w="12700" cmpd="sng" cap="flat">
            <a:solidFill>
              <a:srgbClr val="D1D5DB">
                <a:alpha val="100000"/>
              </a:srgbClr>
            </a:solidFill>
            <a:prstDash val="dash"/>
            <a:round/>
          </a:ln>
        </p:spPr>
        <p:txBody>
          <a:bodyPr anchor="ctr" rtlCol="false" anchorCtr="false" vert="horz" wrap="square" lIns="0" rIns="0" tIns="0" bIns="0"/>
          <a:lstStyle/>
          <a:p>
            <a:pPr algn="ctr" indent="0">
              <a:lnSpc>
                <a:spcPct val="125000"/>
              </a:lnSpc>
              <a:defRPr/>
            </a:pPr>
            <a:r>
              <a:rPr lang="en-US" b="false" i="false" strike="noStrike" u="none" sz="1600">
                <a:solidFill>
                  <a:srgbClr val="9CA3AF"/>
                </a:solidFill>
                <a:latin typeface="Noto Sans SC"/>
                <a:ea typeface="Noto Sans SC"/>
                <a:cs typeface="Noto Sans SC"/>
                <a:sym typeface="Noto Sans SC"/>
              </a:rPr>
              <a:t>ST-SAM 整体架构图</a:t>
            </a:r>
            <a:r>
              <a:rPr lang="en-US" b="false" i="false" strike="noStrike" u="none" sz="1600">
                <a:solidFill>
                  <a:srgbClr val="9CA3AF"/>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9CA3AF"/>
                </a:solidFill>
                <a:latin typeface="Noto Sans SC"/>
                <a:ea typeface="Noto Sans SC"/>
                <a:cs typeface="Noto Sans SC"/>
                <a:sym typeface="Noto Sans SC"/>
              </a:rPr>
              <a:t>(请参考论文图3绘制)</a:t>
            </a: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223000" y="5334000"/>
            <a:ext cx="254000" cy="254000"/>
          </a:xfrm>
          <a:prstGeom prst="rect">
            <a:avLst/>
          </a:prstGeom>
        </p:spPr>
      </p:pic>
      <p:sp>
        <p:nvSpPr>
          <p:cNvPr name="AutoShape 18" id="18"/>
          <p:cNvSpPr/>
          <p:nvPr/>
        </p:nvSpPr>
        <p:spPr>
          <a:xfrm rot="0" flipH="false" flipV="false">
            <a:off x="6604000" y="5334000"/>
            <a:ext cx="4699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6B7280"/>
                </a:solidFill>
                <a:latin typeface="Noto Sans SC"/>
                <a:ea typeface="Noto Sans SC"/>
                <a:cs typeface="Noto Sans SC"/>
                <a:sym typeface="Noto Sans SC"/>
              </a:rPr>
              <a:t>SAM角色:</a:t>
            </a:r>
            <a:r>
              <a:rPr lang="en-US" b="false" i="false" strike="noStrike" u="none" sz="1400">
                <a:solidFill>
                  <a:srgbClr val="6B7280"/>
                </a:solidFill>
                <a:latin typeface="Noto Sans SC"/>
                <a:ea typeface="Noto Sans SC"/>
                <a:cs typeface="Noto Sans SC"/>
                <a:sym typeface="Noto Sans SC"/>
              </a:rPr>
              <a:t>作为外部强大的分割引擎，提供高质量监督信号。</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0080"/>
                </a:solidFill>
                <a:latin typeface="Noto Sans SC"/>
                <a:ea typeface="Noto Sans SC"/>
                <a:cs typeface="Noto Sans SC"/>
                <a:sym typeface="Noto Sans SC"/>
              </a:rPr>
              <a:t>3.1 核心模块：熵动态过滤 (EDF)</a:t>
            </a:r>
            <a:endParaRPr lang="en-US" sz="1100"/>
          </a:p>
        </p:txBody>
      </p:sp>
      <p:cxnSp>
        <p:nvCxnSpPr>
          <p:cNvPr name="Connector 3" id="3"/>
          <p:cNvCxnSpPr/>
          <p:nvPr/>
        </p:nvCxnSpPr>
        <p:spPr>
          <a:xfrm rot="-4297" flipH="false" flipV="false">
            <a:off x="1016004" y="13906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1778000"/>
            <a:ext cx="4826000" cy="1905000"/>
          </a:xfrm>
          <a:prstGeom prst="roundRect">
            <a:avLst>
              <a:gd name="adj" fmla="val 5333"/>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032000"/>
            <a:ext cx="406400" cy="406400"/>
          </a:xfrm>
          <a:prstGeom prst="rect">
            <a:avLst/>
          </a:prstGeom>
        </p:spPr>
      </p:pic>
      <p:sp>
        <p:nvSpPr>
          <p:cNvPr name="AutoShape 6" id="6"/>
          <p:cNvSpPr/>
          <p:nvPr/>
        </p:nvSpPr>
        <p:spPr>
          <a:xfrm rot="0" flipH="false" flipV="false">
            <a:off x="1879600" y="20828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1. 计算局部与全局熵</a:t>
            </a:r>
            <a:endParaRPr lang="en-US" sz="1100"/>
          </a:p>
        </p:txBody>
      </p:sp>
      <p:sp>
        <p:nvSpPr>
          <p:cNvPr name="AutoShape 7" id="7"/>
          <p:cNvSpPr/>
          <p:nvPr/>
        </p:nvSpPr>
        <p:spPr>
          <a:xfrm rot="0" flipH="false" flipV="false">
            <a:off x="1879600" y="2489200"/>
            <a:ext cx="3683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量化每个像素及其邻域的预测不确定性，熵值越高不确定性越大。</a:t>
            </a:r>
            <a:endParaRPr lang="en-US" sz="1100"/>
          </a:p>
        </p:txBody>
      </p:sp>
      <p:sp>
        <p:nvSpPr>
          <p:cNvPr name="AutoShape 8" id="8"/>
          <p:cNvSpPr/>
          <p:nvPr/>
        </p:nvSpPr>
        <p:spPr>
          <a:xfrm rot="0" flipH="false" flipV="false">
            <a:off x="6350000" y="1778000"/>
            <a:ext cx="4826000" cy="1905000"/>
          </a:xfrm>
          <a:prstGeom prst="roundRect">
            <a:avLst>
              <a:gd name="adj" fmla="val 5333"/>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032000"/>
            <a:ext cx="406400" cy="406400"/>
          </a:xfrm>
          <a:prstGeom prst="rect">
            <a:avLst/>
          </a:prstGeom>
        </p:spPr>
      </p:pic>
      <p:sp>
        <p:nvSpPr>
          <p:cNvPr name="AutoShape 10" id="10"/>
          <p:cNvSpPr/>
          <p:nvPr/>
        </p:nvSpPr>
        <p:spPr>
          <a:xfrm rot="0" flipH="false" flipV="false">
            <a:off x="7213600" y="20828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2. 实例级筛选</a:t>
            </a:r>
            <a:endParaRPr lang="en-US" sz="1100"/>
          </a:p>
        </p:txBody>
      </p:sp>
      <p:sp>
        <p:nvSpPr>
          <p:cNvPr name="AutoShape 11" id="11"/>
          <p:cNvSpPr/>
          <p:nvPr/>
        </p:nvSpPr>
        <p:spPr>
          <a:xfrm rot="0" flipH="false" flipV="false">
            <a:off x="7213600" y="2489200"/>
            <a:ext cx="3683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剔除噪声严重的整幅图像，避免早期训练引入大量误差。</a:t>
            </a:r>
            <a:endParaRPr lang="en-US" sz="1100"/>
          </a:p>
        </p:txBody>
      </p:sp>
      <p:sp>
        <p:nvSpPr>
          <p:cNvPr name="AutoShape 12" id="12"/>
          <p:cNvSpPr/>
          <p:nvPr/>
        </p:nvSpPr>
        <p:spPr>
          <a:xfrm rot="0" flipH="false" flipV="false">
            <a:off x="1016000" y="3937000"/>
            <a:ext cx="4826000" cy="1905000"/>
          </a:xfrm>
          <a:prstGeom prst="roundRect">
            <a:avLst>
              <a:gd name="adj" fmla="val 5333"/>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191000"/>
            <a:ext cx="406400" cy="406400"/>
          </a:xfrm>
          <a:prstGeom prst="rect">
            <a:avLst/>
          </a:prstGeom>
        </p:spPr>
      </p:pic>
      <p:sp>
        <p:nvSpPr>
          <p:cNvPr name="AutoShape 14" id="14"/>
          <p:cNvSpPr/>
          <p:nvPr/>
        </p:nvSpPr>
        <p:spPr>
          <a:xfrm rot="0" flipH="false" flipV="false">
            <a:off x="1879600" y="42418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3. 像素级加权</a:t>
            </a:r>
            <a:endParaRPr lang="en-US" sz="1100"/>
          </a:p>
        </p:txBody>
      </p:sp>
      <p:sp>
        <p:nvSpPr>
          <p:cNvPr name="AutoShape 15" id="15"/>
          <p:cNvSpPr/>
          <p:nvPr/>
        </p:nvSpPr>
        <p:spPr>
          <a:xfrm rot="0" flipH="false" flipV="false">
            <a:off x="1879600" y="4648200"/>
            <a:ext cx="3683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为不同可信度像素分配权重，降低模糊区域对训练的干扰。</a:t>
            </a:r>
            <a:endParaRPr lang="en-US" sz="1100"/>
          </a:p>
        </p:txBody>
      </p:sp>
      <p:sp>
        <p:nvSpPr>
          <p:cNvPr name="AutoShape 16" id="16"/>
          <p:cNvSpPr/>
          <p:nvPr/>
        </p:nvSpPr>
        <p:spPr>
          <a:xfrm rot="0" flipH="false" flipV="false">
            <a:off x="6350000" y="3937000"/>
            <a:ext cx="4826000" cy="1905000"/>
          </a:xfrm>
          <a:prstGeom prst="roundRect">
            <a:avLst>
              <a:gd name="adj" fmla="val 5333"/>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4191000"/>
            <a:ext cx="406400" cy="406400"/>
          </a:xfrm>
          <a:prstGeom prst="rect">
            <a:avLst/>
          </a:prstGeom>
        </p:spPr>
      </p:pic>
      <p:sp>
        <p:nvSpPr>
          <p:cNvPr name="AutoShape 18" id="18"/>
          <p:cNvSpPr/>
          <p:nvPr/>
        </p:nvSpPr>
        <p:spPr>
          <a:xfrm rot="0" flipH="false" flipV="false">
            <a:off x="7213600" y="42418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4. 动态扩展</a:t>
            </a:r>
            <a:endParaRPr lang="en-US" sz="1100"/>
          </a:p>
        </p:txBody>
      </p:sp>
      <p:sp>
        <p:nvSpPr>
          <p:cNvPr name="AutoShape 19" id="19"/>
          <p:cNvSpPr/>
          <p:nvPr/>
        </p:nvSpPr>
        <p:spPr>
          <a:xfrm rot="0" flipH="false" flipV="false">
            <a:off x="7213600" y="4648200"/>
            <a:ext cx="3683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逐步扩大伪标签选择范围，实现“从易到难”的渐进式学习。</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000080"/>
                </a:solidFill>
                <a:latin typeface="Noto Sans SC"/>
                <a:ea typeface="Noto Sans SC"/>
                <a:cs typeface="Noto Sans SC"/>
                <a:sym typeface="Noto Sans SC"/>
              </a:rPr>
              <a:t>3.2 核心模块：领域提示引导的相互校正 (DPC)</a:t>
            </a:r>
            <a:endParaRPr lang="en-US" sz="1100"/>
          </a:p>
        </p:txBody>
      </p:sp>
      <p:cxnSp>
        <p:nvCxnSpPr>
          <p:cNvPr name="Connector 3" id="3"/>
          <p:cNvCxnSpPr/>
          <p:nvPr/>
        </p:nvCxnSpPr>
        <p:spPr>
          <a:xfrm rot="-4297" flipH="false" flipV="false">
            <a:off x="1016004" y="13906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1778000"/>
            <a:ext cx="3175000" cy="3048000"/>
          </a:xfrm>
          <a:prstGeom prst="roundRect">
            <a:avLst>
              <a:gd name="adj" fmla="val 3333"/>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032000"/>
            <a:ext cx="406400" cy="406400"/>
          </a:xfrm>
          <a:prstGeom prst="rect">
            <a:avLst/>
          </a:prstGeom>
        </p:spPr>
      </p:pic>
      <p:sp>
        <p:nvSpPr>
          <p:cNvPr name="AutoShape 6" id="6"/>
          <p:cNvSpPr/>
          <p:nvPr/>
        </p:nvSpPr>
        <p:spPr>
          <a:xfrm rot="0" flipH="false" flipV="false">
            <a:off x="1270000" y="26035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1. 生成混合提示</a:t>
            </a:r>
            <a:endParaRPr lang="en-US" sz="1100"/>
          </a:p>
        </p:txBody>
      </p:sp>
      <p:sp>
        <p:nvSpPr>
          <p:cNvPr name="AutoShape 7" id="7"/>
          <p:cNvSpPr/>
          <p:nvPr/>
        </p:nvSpPr>
        <p:spPr>
          <a:xfrm rot="0" flipH="false" flipV="false">
            <a:off x="1270000" y="3048000"/>
            <a:ext cx="2667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将熵加权伪标签转化为SAM可理解的“点+框”混合提示。</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318000" y="3149600"/>
            <a:ext cx="304800" cy="304800"/>
          </a:xfrm>
          <a:prstGeom prst="rect">
            <a:avLst/>
          </a:prstGeom>
        </p:spPr>
      </p:pic>
      <p:sp>
        <p:nvSpPr>
          <p:cNvPr name="AutoShape 9" id="9"/>
          <p:cNvSpPr/>
          <p:nvPr/>
        </p:nvSpPr>
        <p:spPr>
          <a:xfrm rot="0" flipH="false" flipV="false">
            <a:off x="4762500" y="1778000"/>
            <a:ext cx="3175000" cy="3048000"/>
          </a:xfrm>
          <a:prstGeom prst="roundRect">
            <a:avLst>
              <a:gd name="adj" fmla="val 3333"/>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016500" y="2032000"/>
            <a:ext cx="406400" cy="406400"/>
          </a:xfrm>
          <a:prstGeom prst="rect">
            <a:avLst/>
          </a:prstGeom>
        </p:spPr>
      </p:pic>
      <p:sp>
        <p:nvSpPr>
          <p:cNvPr name="AutoShape 11" id="11"/>
          <p:cNvSpPr/>
          <p:nvPr/>
        </p:nvSpPr>
        <p:spPr>
          <a:xfrm rot="0" flipH="false" flipV="false">
            <a:off x="5016500" y="26035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2. SAM引导分割</a:t>
            </a:r>
            <a:endParaRPr lang="en-US" sz="1100"/>
          </a:p>
        </p:txBody>
      </p:sp>
      <p:sp>
        <p:nvSpPr>
          <p:cNvPr name="AutoShape 12" id="12"/>
          <p:cNvSpPr/>
          <p:nvPr/>
        </p:nvSpPr>
        <p:spPr>
          <a:xfrm rot="0" flipH="false" flipV="false">
            <a:off x="5016500" y="3048000"/>
            <a:ext cx="2667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输入混合提示与原图，生成高质量的SAM伪标签。</a:t>
            </a:r>
            <a:endParaRPr lang="en-US" sz="1100"/>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064500" y="3149600"/>
            <a:ext cx="304800" cy="304800"/>
          </a:xfrm>
          <a:prstGeom prst="rect">
            <a:avLst/>
          </a:prstGeom>
        </p:spPr>
      </p:pic>
      <p:sp>
        <p:nvSpPr>
          <p:cNvPr name="AutoShape 14" id="14"/>
          <p:cNvSpPr/>
          <p:nvPr/>
        </p:nvSpPr>
        <p:spPr>
          <a:xfrm rot="0" flipH="false" flipV="false">
            <a:off x="8509000" y="1778000"/>
            <a:ext cx="3175000" cy="3048000"/>
          </a:xfrm>
          <a:prstGeom prst="roundRect">
            <a:avLst>
              <a:gd name="adj" fmla="val 3333"/>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763000" y="2032000"/>
            <a:ext cx="406400" cy="406400"/>
          </a:xfrm>
          <a:prstGeom prst="rect">
            <a:avLst/>
          </a:prstGeom>
        </p:spPr>
      </p:pic>
      <p:sp>
        <p:nvSpPr>
          <p:cNvPr name="AutoShape 16" id="16"/>
          <p:cNvSpPr/>
          <p:nvPr/>
        </p:nvSpPr>
        <p:spPr>
          <a:xfrm rot="0" flipH="false" flipV="false">
            <a:off x="8763000" y="26035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3. 伪标签互校正</a:t>
            </a:r>
            <a:endParaRPr lang="en-US" sz="1100"/>
          </a:p>
        </p:txBody>
      </p:sp>
      <p:sp>
        <p:nvSpPr>
          <p:cNvPr name="AutoShape 17" id="17"/>
          <p:cNvSpPr/>
          <p:nvPr/>
        </p:nvSpPr>
        <p:spPr>
          <a:xfrm rot="0" flipH="false" flipV="false">
            <a:off x="8763000" y="3048000"/>
            <a:ext cx="2667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6B7280"/>
                </a:solidFill>
                <a:latin typeface="Noto Sans SC"/>
                <a:ea typeface="Noto Sans SC"/>
                <a:cs typeface="Noto Sans SC"/>
                <a:sym typeface="Noto Sans SC"/>
              </a:rPr>
              <a:t>融合SAM与COD伪标签，修正误差，生成高置信度标签。</a:t>
            </a:r>
            <a:endParaRPr lang="en-US" sz="1100"/>
          </a:p>
        </p:txBody>
      </p:sp>
      <p:sp>
        <p:nvSpPr>
          <p:cNvPr name="AutoShape 18" id="18"/>
          <p:cNvSpPr/>
          <p:nvPr/>
        </p:nvSpPr>
        <p:spPr>
          <a:xfrm rot="0" flipH="false" flipV="false">
            <a:off x="1016000" y="5207000"/>
            <a:ext cx="10160000" cy="762000"/>
          </a:xfrm>
          <a:prstGeom prst="roundRect">
            <a:avLst>
              <a:gd name="adj" fmla="val 13333"/>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5461000"/>
            <a:ext cx="254000" cy="254000"/>
          </a:xfrm>
          <a:prstGeom prst="rect">
            <a:avLst/>
          </a:prstGeom>
        </p:spPr>
      </p:pic>
      <p:sp>
        <p:nvSpPr>
          <p:cNvPr name="AutoShape 20" id="20"/>
          <p:cNvSpPr/>
          <p:nvPr/>
        </p:nvSpPr>
        <p:spPr>
          <a:xfrm rot="0" flipH="false" flipV="false">
            <a:off x="1651000" y="5461000"/>
            <a:ext cx="914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0080"/>
                </a:solidFill>
                <a:latin typeface="Noto Sans SC"/>
                <a:ea typeface="Noto Sans SC"/>
                <a:cs typeface="Noto Sans SC"/>
                <a:sym typeface="Noto Sans SC"/>
              </a:rPr>
              <a:t>目标：</a:t>
            </a:r>
            <a:r>
              <a:rPr lang="en-US" b="false" i="false" strike="noStrike" u="none" sz="1400">
                <a:solidFill>
                  <a:srgbClr val="374151"/>
                </a:solidFill>
                <a:latin typeface="Noto Sans SC"/>
                <a:ea typeface="Noto Sans SC"/>
                <a:cs typeface="Noto Sans SC"/>
                <a:sym typeface="Noto Sans SC"/>
              </a:rPr>
              <a:t>利用SAM的强大分割能力修正COD网络的伪标签，解决特定领域适配问题。</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0080"/>
                </a:solidFill>
                <a:latin typeface="Noto Sans SC"/>
                <a:ea typeface="Noto Sans SC"/>
                <a:cs typeface="Noto Sans SC"/>
                <a:sym typeface="Noto Sans SC"/>
              </a:rPr>
              <a:t>4. 实验结果：定量对比</a:t>
            </a:r>
            <a:endParaRPr lang="en-US" sz="1100"/>
          </a:p>
        </p:txBody>
      </p:sp>
      <p:cxnSp>
        <p:nvCxnSpPr>
          <p:cNvPr name="Connector 3" id="3"/>
          <p:cNvCxnSpPr/>
          <p:nvPr/>
        </p:nvCxnSpPr>
        <p:spPr>
          <a:xfrm rot="-4297" flipH="false" flipV="false">
            <a:off x="1016004" y="13906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1587500"/>
            <a:ext cx="10160000" cy="254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实验设置：仅使用 1% 标注数据训练，对比11种SOTA方法 (2半监督, 5弱监督, 4全监督)。</a:t>
            </a:r>
            <a:endParaRPr lang="en-US" sz="1100"/>
          </a:p>
        </p:txBody>
      </p:sp>
      <p:graphicFrame>
        <p:nvGraphicFramePr>
          <p:cNvPr name="Table 5" id="5"/>
          <p:cNvGraphicFramePr>
            <a:graphicFrameLocks noGrp="true"/>
          </p:cNvGraphicFramePr>
          <p:nvPr/>
        </p:nvGraphicFramePr>
        <p:xfrm>
          <a:off x="1016000" y="2095500"/>
          <a:ext cx="10160000" cy="2540000"/>
        </p:xfrm>
        <a:graphic>
          <a:graphicData uri="http://schemas.openxmlformats.org/drawingml/2006/table">
            <a:tbl>
              <a:tblPr>
                <a:effectLst/>
              </a:tblPr>
              <a:tblGrid>
                <a:gridCol w="2794000"/>
                <a:gridCol w="1841500"/>
                <a:gridCol w="1841500"/>
                <a:gridCol w="1841500"/>
                <a:gridCol w="1841500"/>
              </a:tblGrid>
              <a:tr h="508000">
                <a:tc>
                  <a:txBody>
                    <a:bodyPr anchor="t" rtlCol="false"/>
                    <a:lstStyle/>
                    <a:p>
                      <a:pPr algn="ctr" indent="0">
                        <a:lnSpc>
                          <a:spcPct val="100000"/>
                        </a:lnSpc>
                        <a:defRPr/>
                      </a:pPr>
                      <a:r>
                        <a:rPr lang="en-US" b="true" i="false" strike="noStrike" u="none" sz="1400">
                          <a:solidFill>
                            <a:srgbClr val="374151"/>
                          </a:solidFill>
                          <a:latin typeface="Noto Sans SC"/>
                          <a:ea typeface="Noto Sans SC"/>
                          <a:cs typeface="Noto Sans SC"/>
                          <a:sym typeface="Noto Sans SC"/>
                        </a:rPr>
                        <a:t>方法</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indent="0">
                        <a:lnSpc>
                          <a:spcPct val="100000"/>
                        </a:lnSpc>
                        <a:defRPr/>
                      </a:pPr>
                      <a:r>
                        <a:rPr lang="en-US" b="true" i="false" strike="noStrike" u="none" sz="1400">
                          <a:solidFill>
                            <a:srgbClr val="374151"/>
                          </a:solidFill>
                          <a:latin typeface="Noto Sans SC"/>
                          <a:ea typeface="Noto Sans SC"/>
                          <a:cs typeface="Noto Sans SC"/>
                          <a:sym typeface="Noto Sans SC"/>
                        </a:rPr>
                        <a:t>CAMO (Fβ^ω/MAE)</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indent="0">
                        <a:lnSpc>
                          <a:spcPct val="100000"/>
                        </a:lnSpc>
                        <a:defRPr/>
                      </a:pPr>
                      <a:r>
                        <a:rPr lang="en-US" b="true" i="false" strike="noStrike" u="none" sz="1400">
                          <a:solidFill>
                            <a:srgbClr val="374151"/>
                          </a:solidFill>
                          <a:latin typeface="Noto Sans SC"/>
                          <a:ea typeface="Noto Sans SC"/>
                          <a:cs typeface="Noto Sans SC"/>
                          <a:sym typeface="Noto Sans SC"/>
                        </a:rPr>
                        <a:t>CHAMELEON (Fβ^ω/MAE)</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indent="0">
                        <a:lnSpc>
                          <a:spcPct val="100000"/>
                        </a:lnSpc>
                        <a:defRPr/>
                      </a:pPr>
                      <a:r>
                        <a:rPr lang="en-US" b="true" i="false" strike="noStrike" u="none" sz="1400">
                          <a:solidFill>
                            <a:srgbClr val="374151"/>
                          </a:solidFill>
                          <a:latin typeface="Noto Sans SC"/>
                          <a:ea typeface="Noto Sans SC"/>
                          <a:cs typeface="Noto Sans SC"/>
                          <a:sym typeface="Noto Sans SC"/>
                        </a:rPr>
                        <a:t>COD10K (Fβ^ω/MAE)</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indent="0">
                        <a:lnSpc>
                          <a:spcPct val="100000"/>
                        </a:lnSpc>
                        <a:defRPr/>
                      </a:pPr>
                      <a:r>
                        <a:rPr lang="en-US" b="true" i="false" strike="noStrike" u="none" sz="1400">
                          <a:solidFill>
                            <a:srgbClr val="374151"/>
                          </a:solidFill>
                          <a:latin typeface="Noto Sans SC"/>
                          <a:ea typeface="Noto Sans SC"/>
                          <a:cs typeface="Noto Sans SC"/>
                          <a:sym typeface="Noto Sans SC"/>
                        </a:rPr>
                        <a:t>NC4K (Fβ^ω/MAE)</a:t>
                      </a:r>
                      <a:endParaRPr lang="en-US" sz="1100"/>
                    </a:p>
                  </a:txBody>
                  <a:tcPr anchor="ctr" anchorCtr="false" marL="101600" marR="101600" marT="101600" marB="101600">
                    <a:lnL>
                      <a:noFill/>
                    </a:lnL>
                    <a:lnR>
                      <a:noFill/>
                    </a:lnR>
                    <a:lnT>
                      <a:noFill/>
                    </a:lnT>
                    <a:lnB>
                      <a:noFill/>
                    </a:lnB>
                    <a:solidFill>
                      <a:srgbClr val="F3F4F6">
                        <a:alpha val="100000"/>
                      </a:srgbClr>
                    </a:solidFill>
                  </a:tcPr>
                </a:tc>
              </a:tr>
              <a:tr h="508000">
                <a:tc>
                  <a:txBody>
                    <a:bodyPr anchor="t" rtlCol="false"/>
                    <a:lstStyle/>
                    <a:p>
                      <a:pPr algn="ctr" indent="0">
                        <a:lnSpc>
                          <a:spcPct val="100000"/>
                        </a:lnSpc>
                        <a:defRPr/>
                      </a:pPr>
                      <a:r>
                        <a:rPr lang="en-US" b="true" i="false" strike="noStrike" u="none" sz="1400">
                          <a:solidFill>
                            <a:srgbClr val="000080"/>
                          </a:solidFill>
                          <a:latin typeface="Noto Sans SC"/>
                          <a:ea typeface="Noto Sans SC"/>
                          <a:cs typeface="Noto Sans SC"/>
                          <a:sym typeface="Noto Sans SC"/>
                        </a:rPr>
                        <a:t>ST-SAM (Ours)</a:t>
                      </a:r>
                      <a:endParaRPr lang="en-US" sz="1100"/>
                    </a:p>
                  </a:txBody>
                  <a:tcPr anchor="ctr" anchorCtr="false" marL="101600" marR="101600" marT="101600" marB="101600">
                    <a:lnL>
                      <a:noFill/>
                    </a:lnL>
                    <a:lnR>
                      <a:noFill/>
                    </a:lnR>
                    <a:lnT>
                      <a:noFill/>
                    </a:lnT>
                    <a:lnB>
                      <a:noFill/>
                    </a:lnB>
                    <a:solidFill>
                      <a:srgbClr val="EFF6FF">
                        <a:alpha val="100000"/>
                      </a:srgbClr>
                    </a:solidFill>
                  </a:tcPr>
                </a:tc>
                <a:tc>
                  <a:txBody>
                    <a:bodyPr anchor="t" rtlCol="false"/>
                    <a:lstStyle/>
                    <a:p>
                      <a:pPr algn="ctr" indent="0">
                        <a:lnSpc>
                          <a:spcPct val="100000"/>
                        </a:lnSpc>
                        <a:defRPr/>
                      </a:pPr>
                      <a:r>
                        <a:rPr lang="en-US" b="true" i="false" strike="noStrike" u="none" sz="1400">
                          <a:solidFill>
                            <a:srgbClr val="000080"/>
                          </a:solidFill>
                          <a:latin typeface="Noto Sans SC"/>
                          <a:ea typeface="Noto Sans SC"/>
                          <a:cs typeface="Noto Sans SC"/>
                          <a:sym typeface="Noto Sans SC"/>
                        </a:rPr>
                        <a:t>0.892/0.051</a:t>
                      </a:r>
                      <a:endParaRPr lang="en-US" sz="1100"/>
                    </a:p>
                  </a:txBody>
                  <a:tcPr anchor="ctr" anchorCtr="false" marL="101600" marR="101600" marT="101600" marB="101600">
                    <a:lnL>
                      <a:noFill/>
                    </a:lnL>
                    <a:lnR>
                      <a:noFill/>
                    </a:lnR>
                    <a:lnT>
                      <a:noFill/>
                    </a:lnT>
                    <a:lnB>
                      <a:noFill/>
                    </a:lnB>
                    <a:solidFill>
                      <a:srgbClr val="EFF6FF">
                        <a:alpha val="100000"/>
                      </a:srgbClr>
                    </a:solidFill>
                  </a:tcPr>
                </a:tc>
                <a:tc>
                  <a:txBody>
                    <a:bodyPr anchor="t" rtlCol="false"/>
                    <a:lstStyle/>
                    <a:p>
                      <a:pPr algn="ctr" indent="0">
                        <a:lnSpc>
                          <a:spcPct val="100000"/>
                        </a:lnSpc>
                        <a:defRPr/>
                      </a:pPr>
                      <a:r>
                        <a:rPr lang="en-US" b="true" i="false" strike="noStrike" u="none" sz="1400">
                          <a:solidFill>
                            <a:srgbClr val="000080"/>
                          </a:solidFill>
                          <a:latin typeface="Noto Sans SC"/>
                          <a:ea typeface="Noto Sans SC"/>
                          <a:cs typeface="Noto Sans SC"/>
                          <a:sym typeface="Noto Sans SC"/>
                        </a:rPr>
                        <a:t>0.875/0.062</a:t>
                      </a:r>
                      <a:endParaRPr lang="en-US" sz="1100"/>
                    </a:p>
                  </a:txBody>
                  <a:tcPr anchor="ctr" anchorCtr="false" marL="101600" marR="101600" marT="101600" marB="101600">
                    <a:lnL>
                      <a:noFill/>
                    </a:lnL>
                    <a:lnR>
                      <a:noFill/>
                    </a:lnR>
                    <a:lnT>
                      <a:noFill/>
                    </a:lnT>
                    <a:lnB>
                      <a:noFill/>
                    </a:lnB>
                    <a:solidFill>
                      <a:srgbClr val="EFF6FF">
                        <a:alpha val="100000"/>
                      </a:srgbClr>
                    </a:solidFill>
                  </a:tcPr>
                </a:tc>
                <a:tc>
                  <a:txBody>
                    <a:bodyPr anchor="t" rtlCol="false"/>
                    <a:lstStyle/>
                    <a:p>
                      <a:pPr algn="ctr" indent="0">
                        <a:lnSpc>
                          <a:spcPct val="100000"/>
                        </a:lnSpc>
                        <a:defRPr/>
                      </a:pPr>
                      <a:r>
                        <a:rPr lang="en-US" b="true" i="false" strike="noStrike" u="none" sz="1400">
                          <a:solidFill>
                            <a:srgbClr val="000080"/>
                          </a:solidFill>
                          <a:latin typeface="Noto Sans SC"/>
                          <a:ea typeface="Noto Sans SC"/>
                          <a:cs typeface="Noto Sans SC"/>
                          <a:sym typeface="Noto Sans SC"/>
                        </a:rPr>
                        <a:t>0.881/0.048</a:t>
                      </a:r>
                      <a:endParaRPr lang="en-US" sz="1100"/>
                    </a:p>
                  </a:txBody>
                  <a:tcPr anchor="ctr" anchorCtr="false" marL="101600" marR="101600" marT="101600" marB="101600">
                    <a:lnL>
                      <a:noFill/>
                    </a:lnL>
                    <a:lnR>
                      <a:noFill/>
                    </a:lnR>
                    <a:lnT>
                      <a:noFill/>
                    </a:lnT>
                    <a:lnB>
                      <a:noFill/>
                    </a:lnB>
                    <a:solidFill>
                      <a:srgbClr val="EFF6FF">
                        <a:alpha val="100000"/>
                      </a:srgbClr>
                    </a:solidFill>
                  </a:tcPr>
                </a:tc>
                <a:tc>
                  <a:txBody>
                    <a:bodyPr anchor="t" rtlCol="false"/>
                    <a:lstStyle/>
                    <a:p>
                      <a:pPr algn="ctr" indent="0">
                        <a:lnSpc>
                          <a:spcPct val="100000"/>
                        </a:lnSpc>
                        <a:defRPr/>
                      </a:pPr>
                      <a:r>
                        <a:rPr lang="en-US" b="true" i="false" strike="noStrike" u="none" sz="1400">
                          <a:solidFill>
                            <a:srgbClr val="000080"/>
                          </a:solidFill>
                          <a:latin typeface="Noto Sans SC"/>
                          <a:ea typeface="Noto Sans SC"/>
                          <a:cs typeface="Noto Sans SC"/>
                          <a:sym typeface="Noto Sans SC"/>
                        </a:rPr>
                        <a:t>0.863/0.059</a:t>
                      </a:r>
                      <a:endParaRPr lang="en-US" sz="1100"/>
                    </a:p>
                  </a:txBody>
                  <a:tcPr anchor="ctr" anchorCtr="false" marL="101600" marR="101600" marT="101600" marB="101600">
                    <a:lnL>
                      <a:noFill/>
                    </a:lnL>
                    <a:lnR>
                      <a:noFill/>
                    </a:lnR>
                    <a:lnT>
                      <a:noFill/>
                    </a:lnT>
                    <a:lnB>
                      <a:noFill/>
                    </a:lnB>
                    <a:solidFill>
                      <a:srgbClr val="EFF6FF">
                        <a:alpha val="100000"/>
                      </a:srgbClr>
                    </a:solidFill>
                  </a:tcPr>
                </a:tc>
              </a:tr>
              <a:tr h="508000">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CamoTeacher [1]</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0.815/0.078</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0.793/0.091</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0.802/0.075</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0.788/0.089</a:t>
                      </a:r>
                      <a:endParaRPr lang="en-US" sz="1100"/>
                    </a:p>
                  </a:txBody>
                  <a:tcPr anchor="ctr" anchorCtr="false" marL="101600" marR="101600" marT="101600" marB="101600">
                    <a:lnL>
                      <a:noFill/>
                    </a:lnL>
                    <a:lnR>
                      <a:noFill/>
                    </a:lnR>
                    <a:lnT>
                      <a:noFill/>
                    </a:lnT>
                    <a:lnB>
                      <a:noFill/>
                    </a:lnB>
                    <a:noFill/>
                  </a:tcPr>
                </a:tc>
              </a:tr>
              <a:tr h="508000">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SSCOD [2]</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0.821/0.075</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0.805/0.087</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0.810/0.072</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0.795/0.085</a:t>
                      </a:r>
                      <a:endParaRPr lang="en-US" sz="1100"/>
                    </a:p>
                  </a:txBody>
                  <a:tcPr anchor="ctr" anchorCtr="false" marL="101600" marR="101600" marT="101600" marB="101600">
                    <a:lnL>
                      <a:noFill/>
                    </a:lnL>
                    <a:lnR>
                      <a:noFill/>
                    </a:lnR>
                    <a:lnT>
                      <a:noFill/>
                    </a:lnT>
                    <a:lnB>
                      <a:noFill/>
                    </a:lnB>
                    <a:noFill/>
                  </a:tcPr>
                </a:tc>
              </a:tr>
              <a:tr h="508000">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DSAM [3]</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0.885/0.055</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0.862/0.068</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0.870/0.052</a:t>
                      </a:r>
                      <a:endParaRPr lang="en-US" sz="1100"/>
                    </a:p>
                  </a:txBody>
                  <a:tcPr anchor="ctr" anchorCtr="false" marL="101600" marR="101600" marT="101600" marB="101600">
                    <a:lnL>
                      <a:noFill/>
                    </a:lnL>
                    <a:lnR>
                      <a:noFill/>
                    </a:lnR>
                    <a:lnT>
                      <a:noFill/>
                    </a:lnT>
                    <a:lnB>
                      <a:noFill/>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0.851/0.064</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6" id="6"/>
          <p:cNvSpPr/>
          <p:nvPr/>
        </p:nvSpPr>
        <p:spPr>
          <a:xfrm rot="0" flipH="false" flipV="false">
            <a:off x="1016000" y="5016500"/>
            <a:ext cx="10160000" cy="304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600">
                <a:solidFill>
                  <a:srgbClr val="000080"/>
                </a:solidFill>
                <a:latin typeface="Noto Sans SC"/>
                <a:ea typeface="Noto Sans SC"/>
                <a:cs typeface="Noto Sans SC"/>
                <a:sym typeface="Noto Sans SC"/>
              </a:rPr>
              <a:t>核心发现</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461000"/>
            <a:ext cx="203200" cy="203200"/>
          </a:xfrm>
          <a:prstGeom prst="rect">
            <a:avLst/>
          </a:prstGeom>
        </p:spPr>
      </p:pic>
      <p:sp>
        <p:nvSpPr>
          <p:cNvPr name="AutoShape 8" id="8"/>
          <p:cNvSpPr/>
          <p:nvPr/>
        </p:nvSpPr>
        <p:spPr>
          <a:xfrm rot="0" flipH="false" flipV="false">
            <a:off x="1320800" y="5461000"/>
            <a:ext cx="9906000" cy="254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ST-SAM 在所有指标上均</a:t>
            </a:r>
            <a:r>
              <a:rPr lang="en-US" b="true" i="false" strike="noStrike" u="none" sz="1400">
                <a:solidFill>
                  <a:srgbClr val="000080"/>
                </a:solidFill>
                <a:latin typeface="Noto Sans SC"/>
                <a:ea typeface="Noto Sans SC"/>
                <a:cs typeface="Noto Sans SC"/>
                <a:sym typeface="Noto Sans SC"/>
              </a:rPr>
              <a:t>显著优于</a:t>
            </a:r>
            <a:r>
              <a:rPr lang="en-US" b="false" i="false" strike="noStrike" u="none" sz="1400">
                <a:solidFill>
                  <a:srgbClr val="374151"/>
                </a:solidFill>
                <a:latin typeface="Noto Sans SC"/>
                <a:ea typeface="Noto Sans SC"/>
                <a:cs typeface="Noto Sans SC"/>
                <a:sym typeface="Noto Sans SC"/>
              </a:rPr>
              <a:t>现有的半监督和弱监督SOTA方法。</a:t>
            </a:r>
            <a:endParaRPr lang="en-US" sz="1100"/>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842000"/>
            <a:ext cx="203200" cy="203200"/>
          </a:xfrm>
          <a:prstGeom prst="rect">
            <a:avLst/>
          </a:prstGeom>
        </p:spPr>
      </p:pic>
      <p:sp>
        <p:nvSpPr>
          <p:cNvPr name="AutoShape 10" id="10"/>
          <p:cNvSpPr/>
          <p:nvPr/>
        </p:nvSpPr>
        <p:spPr>
          <a:xfrm rot="0" flipH="false" flipV="false">
            <a:off x="1320800" y="5842000"/>
            <a:ext cx="9906000" cy="254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仅用1%数据，性能</a:t>
            </a:r>
            <a:r>
              <a:rPr lang="en-US" b="true" i="false" strike="noStrike" u="none" sz="1400">
                <a:solidFill>
                  <a:srgbClr val="000080"/>
                </a:solidFill>
                <a:latin typeface="Noto Sans SC"/>
                <a:ea typeface="Noto Sans SC"/>
                <a:cs typeface="Noto Sans SC"/>
                <a:sym typeface="Noto Sans SC"/>
              </a:rPr>
              <a:t>媲美甚至超越</a:t>
            </a:r>
            <a:r>
              <a:rPr lang="en-US" b="false" i="false" strike="noStrike" u="none" sz="1400">
                <a:solidFill>
                  <a:srgbClr val="374151"/>
                </a:solidFill>
                <a:latin typeface="Noto Sans SC"/>
                <a:ea typeface="Noto Sans SC"/>
                <a:cs typeface="Noto Sans SC"/>
                <a:sym typeface="Noto Sans SC"/>
              </a:rPr>
              <a:t>许多使用100%数据的全监督SOTA方法。</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0080"/>
                </a:solidFill>
                <a:latin typeface="Noto Sans SC"/>
                <a:ea typeface="Noto Sans SC"/>
                <a:cs typeface="Noto Sans SC"/>
                <a:sym typeface="Noto Sans SC"/>
              </a:rPr>
              <a:t>4. 实验结果：定性对比</a:t>
            </a:r>
            <a:endParaRPr lang="en-US" sz="1100"/>
          </a:p>
        </p:txBody>
      </p:sp>
      <p:cxnSp>
        <p:nvCxnSpPr>
          <p:cNvPr name="Connector 3" id="3"/>
          <p:cNvCxnSpPr/>
          <p:nvPr/>
        </p:nvCxnSpPr>
        <p:spPr>
          <a:xfrm rot="-4297" flipH="false" flipV="false">
            <a:off x="1016004" y="13906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1651000"/>
            <a:ext cx="177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808080"/>
                </a:solidFill>
                <a:latin typeface="Noto Sans SC"/>
                <a:ea typeface="Noto Sans SC"/>
                <a:cs typeface="Noto Sans SC"/>
                <a:sym typeface="Noto Sans SC"/>
              </a:rPr>
              <a:t>Input</a:t>
            </a:r>
            <a:endParaRPr lang="en-US" sz="1100"/>
          </a:p>
        </p:txBody>
      </p:sp>
      <p:sp>
        <p:nvSpPr>
          <p:cNvPr name="AutoShape 5" id="5"/>
          <p:cNvSpPr/>
          <p:nvPr/>
        </p:nvSpPr>
        <p:spPr>
          <a:xfrm rot="0" flipH="false" flipV="false">
            <a:off x="3048000" y="1651000"/>
            <a:ext cx="177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808080"/>
                </a:solidFill>
                <a:latin typeface="Noto Sans SC"/>
                <a:ea typeface="Noto Sans SC"/>
                <a:cs typeface="Noto Sans SC"/>
                <a:sym typeface="Noto Sans SC"/>
              </a:rPr>
              <a:t>Ground Truth</a:t>
            </a:r>
            <a:endParaRPr lang="en-US" sz="1100"/>
          </a:p>
        </p:txBody>
      </p:sp>
      <p:sp>
        <p:nvSpPr>
          <p:cNvPr name="AutoShape 6" id="6"/>
          <p:cNvSpPr/>
          <p:nvPr/>
        </p:nvSpPr>
        <p:spPr>
          <a:xfrm rot="0" flipH="false" flipV="false">
            <a:off x="5080000" y="1651000"/>
            <a:ext cx="177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808080"/>
                </a:solidFill>
                <a:latin typeface="Noto Sans SC"/>
                <a:ea typeface="Noto Sans SC"/>
                <a:cs typeface="Noto Sans SC"/>
                <a:sym typeface="Noto Sans SC"/>
              </a:rPr>
              <a:t>CamoTeacher (20%)</a:t>
            </a:r>
            <a:endParaRPr lang="en-US" sz="1100"/>
          </a:p>
        </p:txBody>
      </p:sp>
      <p:sp>
        <p:nvSpPr>
          <p:cNvPr name="AutoShape 7" id="7"/>
          <p:cNvSpPr/>
          <p:nvPr/>
        </p:nvSpPr>
        <p:spPr>
          <a:xfrm rot="0" flipH="false" flipV="false">
            <a:off x="7112000" y="1651000"/>
            <a:ext cx="177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808080"/>
                </a:solidFill>
                <a:latin typeface="Noto Sans SC"/>
                <a:ea typeface="Noto Sans SC"/>
                <a:cs typeface="Noto Sans SC"/>
                <a:sym typeface="Noto Sans SC"/>
              </a:rPr>
              <a:t>SSCOD (20%)</a:t>
            </a:r>
            <a:endParaRPr lang="en-US" sz="1100"/>
          </a:p>
        </p:txBody>
      </p:sp>
      <p:sp>
        <p:nvSpPr>
          <p:cNvPr name="AutoShape 8" id="8"/>
          <p:cNvSpPr/>
          <p:nvPr/>
        </p:nvSpPr>
        <p:spPr>
          <a:xfrm rot="0" flipH="false" flipV="false">
            <a:off x="9144000" y="1651000"/>
            <a:ext cx="177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00080"/>
                </a:solidFill>
                <a:latin typeface="Noto Sans SC"/>
                <a:ea typeface="Noto Sans SC"/>
                <a:cs typeface="Noto Sans SC"/>
                <a:sym typeface="Noto Sans SC"/>
              </a:rPr>
              <a:t>Ours: ST-SAM (1%)</a:t>
            </a:r>
            <a:endParaRPr lang="en-US" sz="1100"/>
          </a:p>
        </p:txBody>
      </p:sp>
      <p:sp>
        <p:nvSpPr>
          <p:cNvPr name="AutoShape 9" id="9"/>
          <p:cNvSpPr/>
          <p:nvPr/>
        </p:nvSpPr>
        <p:spPr>
          <a:xfrm rot="0" flipH="false" flipV="false">
            <a:off x="1016000" y="2095500"/>
            <a:ext cx="1778000" cy="1143000"/>
          </a:xfrm>
          <a:prstGeom prst="roundRect">
            <a:avLst>
              <a:gd name="adj" fmla="val 8888"/>
            </a:avLst>
          </a:prstGeom>
          <a:solidFill>
            <a:srgbClr val="F3F4F6">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Input Image</a:t>
            </a:r>
            <a:endParaRPr lang="en-US" sz="1100"/>
          </a:p>
        </p:txBody>
      </p:sp>
      <p:sp>
        <p:nvSpPr>
          <p:cNvPr name="AutoShape 10" id="10"/>
          <p:cNvSpPr/>
          <p:nvPr/>
        </p:nvSpPr>
        <p:spPr>
          <a:xfrm rot="0" flipH="false" flipV="false">
            <a:off x="3048000" y="2095500"/>
            <a:ext cx="1778000" cy="1143000"/>
          </a:xfrm>
          <a:prstGeom prst="roundRect">
            <a:avLst>
              <a:gd name="adj" fmla="val 8888"/>
            </a:avLst>
          </a:prstGeom>
          <a:solidFill>
            <a:srgbClr val="F3F4F6">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GT Mask</a:t>
            </a:r>
            <a:endParaRPr lang="en-US" sz="1100"/>
          </a:p>
        </p:txBody>
      </p:sp>
      <p:sp>
        <p:nvSpPr>
          <p:cNvPr name="AutoShape 11" id="11"/>
          <p:cNvSpPr/>
          <p:nvPr/>
        </p:nvSpPr>
        <p:spPr>
          <a:xfrm rot="0" flipH="false" flipV="false">
            <a:off x="5080000" y="2095500"/>
            <a:ext cx="1778000" cy="1143000"/>
          </a:xfrm>
          <a:prstGeom prst="roundRect">
            <a:avLst>
              <a:gd name="adj" fmla="val 8888"/>
            </a:avLst>
          </a:prstGeom>
          <a:solidFill>
            <a:srgbClr val="F3F4F6">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Result</a:t>
            </a:r>
            <a:endParaRPr lang="en-US" sz="1100"/>
          </a:p>
        </p:txBody>
      </p:sp>
      <p:sp>
        <p:nvSpPr>
          <p:cNvPr name="AutoShape 12" id="12"/>
          <p:cNvSpPr/>
          <p:nvPr/>
        </p:nvSpPr>
        <p:spPr>
          <a:xfrm rot="0" flipH="false" flipV="false">
            <a:off x="7112000" y="2095500"/>
            <a:ext cx="1778000" cy="1143000"/>
          </a:xfrm>
          <a:prstGeom prst="roundRect">
            <a:avLst>
              <a:gd name="adj" fmla="val 8888"/>
            </a:avLst>
          </a:prstGeom>
          <a:solidFill>
            <a:srgbClr val="F3F4F6">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Result</a:t>
            </a:r>
            <a:endParaRPr lang="en-US" sz="1100"/>
          </a:p>
        </p:txBody>
      </p:sp>
      <p:sp>
        <p:nvSpPr>
          <p:cNvPr name="AutoShape 13" id="13"/>
          <p:cNvSpPr/>
          <p:nvPr/>
        </p:nvSpPr>
        <p:spPr>
          <a:xfrm rot="0" flipH="false" flipV="false">
            <a:off x="9144000" y="2095500"/>
            <a:ext cx="1778000" cy="1143000"/>
          </a:xfrm>
          <a:prstGeom prst="roundRect">
            <a:avLst>
              <a:gd name="adj" fmla="val 8888"/>
            </a:avLst>
          </a:prstGeom>
          <a:solidFill>
            <a:srgbClr val="EFF6FF">
              <a:alpha val="100000"/>
            </a:srgbClr>
          </a:solidFill>
          <a:ln w="25400" cmpd="sng" cap="flat">
            <a:solidFill>
              <a:srgbClr val="000080">
                <a:alpha val="100000"/>
              </a:srgbClr>
            </a:solid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000080"/>
                </a:solidFill>
                <a:latin typeface="Noto Sans SC"/>
                <a:ea typeface="Noto Sans SC"/>
                <a:cs typeface="Noto Sans SC"/>
                <a:sym typeface="Noto Sans SC"/>
              </a:rPr>
              <a:t>Ours</a:t>
            </a:r>
            <a:endParaRPr lang="en-US" sz="1100"/>
          </a:p>
        </p:txBody>
      </p:sp>
      <p:sp>
        <p:nvSpPr>
          <p:cNvPr name="AutoShape 14" id="14"/>
          <p:cNvSpPr/>
          <p:nvPr/>
        </p:nvSpPr>
        <p:spPr>
          <a:xfrm rot="0" flipH="false" flipV="false">
            <a:off x="1016000" y="3365500"/>
            <a:ext cx="1778000" cy="1143000"/>
          </a:xfrm>
          <a:prstGeom prst="roundRect">
            <a:avLst>
              <a:gd name="adj" fmla="val 8888"/>
            </a:avLst>
          </a:prstGeom>
          <a:solidFill>
            <a:srgbClr val="F3F4F6">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Input Image</a:t>
            </a:r>
            <a:endParaRPr lang="en-US" sz="1100"/>
          </a:p>
        </p:txBody>
      </p:sp>
      <p:sp>
        <p:nvSpPr>
          <p:cNvPr name="AutoShape 15" id="15"/>
          <p:cNvSpPr/>
          <p:nvPr/>
        </p:nvSpPr>
        <p:spPr>
          <a:xfrm rot="0" flipH="false" flipV="false">
            <a:off x="3048000" y="3365500"/>
            <a:ext cx="1778000" cy="1143000"/>
          </a:xfrm>
          <a:prstGeom prst="roundRect">
            <a:avLst>
              <a:gd name="adj" fmla="val 8888"/>
            </a:avLst>
          </a:prstGeom>
          <a:solidFill>
            <a:srgbClr val="F3F4F6">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GT Mask</a:t>
            </a:r>
            <a:endParaRPr lang="en-US" sz="1100"/>
          </a:p>
        </p:txBody>
      </p:sp>
      <p:sp>
        <p:nvSpPr>
          <p:cNvPr name="AutoShape 16" id="16"/>
          <p:cNvSpPr/>
          <p:nvPr/>
        </p:nvSpPr>
        <p:spPr>
          <a:xfrm rot="0" flipH="false" flipV="false">
            <a:off x="5080000" y="3365500"/>
            <a:ext cx="1778000" cy="1143000"/>
          </a:xfrm>
          <a:prstGeom prst="roundRect">
            <a:avLst>
              <a:gd name="adj" fmla="val 8888"/>
            </a:avLst>
          </a:prstGeom>
          <a:solidFill>
            <a:srgbClr val="F3F4F6">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Result</a:t>
            </a:r>
            <a:endParaRPr lang="en-US" sz="1100"/>
          </a:p>
        </p:txBody>
      </p:sp>
      <p:sp>
        <p:nvSpPr>
          <p:cNvPr name="AutoShape 17" id="17"/>
          <p:cNvSpPr/>
          <p:nvPr/>
        </p:nvSpPr>
        <p:spPr>
          <a:xfrm rot="0" flipH="false" flipV="false">
            <a:off x="7112000" y="3365500"/>
            <a:ext cx="1778000" cy="1143000"/>
          </a:xfrm>
          <a:prstGeom prst="roundRect">
            <a:avLst>
              <a:gd name="adj" fmla="val 8888"/>
            </a:avLst>
          </a:prstGeom>
          <a:solidFill>
            <a:srgbClr val="F3F4F6">
              <a:alpha val="100000"/>
            </a:srgbClr>
          </a:solidFill>
          <a:ln w="12700" cmpd="sng" cap="flat">
            <a:solidFill>
              <a:srgbClr val="E5E7EB">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Result</a:t>
            </a:r>
            <a:endParaRPr lang="en-US" sz="1100"/>
          </a:p>
        </p:txBody>
      </p:sp>
      <p:sp>
        <p:nvSpPr>
          <p:cNvPr name="AutoShape 18" id="18"/>
          <p:cNvSpPr/>
          <p:nvPr/>
        </p:nvSpPr>
        <p:spPr>
          <a:xfrm rot="0" flipH="false" flipV="false">
            <a:off x="9144000" y="3365500"/>
            <a:ext cx="1778000" cy="1143000"/>
          </a:xfrm>
          <a:prstGeom prst="roundRect">
            <a:avLst>
              <a:gd name="adj" fmla="val 8888"/>
            </a:avLst>
          </a:prstGeom>
          <a:solidFill>
            <a:srgbClr val="EFF6FF">
              <a:alpha val="100000"/>
            </a:srgbClr>
          </a:solidFill>
          <a:ln w="25400" cmpd="sng" cap="flat">
            <a:solidFill>
              <a:srgbClr val="000080">
                <a:alpha val="100000"/>
              </a:srgbClr>
            </a:solid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000080"/>
                </a:solidFill>
                <a:latin typeface="Noto Sans SC"/>
                <a:ea typeface="Noto Sans SC"/>
                <a:cs typeface="Noto Sans SC"/>
                <a:sym typeface="Noto Sans SC"/>
              </a:rPr>
              <a:t>Ours</a:t>
            </a:r>
            <a:endParaRPr lang="en-US" sz="1100"/>
          </a:p>
        </p:txBody>
      </p:sp>
      <p:cxnSp>
        <p:nvCxnSpPr>
          <p:cNvPr name="Connector 19" id="19"/>
          <p:cNvCxnSpPr/>
          <p:nvPr/>
        </p:nvCxnSpPr>
        <p:spPr>
          <a:xfrm rot="-4297" flipH="false" flipV="false">
            <a:off x="1016004" y="47561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pic>
        <p:nvPicPr>
          <p:cNvPr name="Picture 20" id="2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016500"/>
            <a:ext cx="254000" cy="254000"/>
          </a:xfrm>
          <a:prstGeom prst="rect">
            <a:avLst/>
          </a:prstGeom>
        </p:spPr>
      </p:pic>
      <p:sp>
        <p:nvSpPr>
          <p:cNvPr name="AutoShape 21" id="21"/>
          <p:cNvSpPr/>
          <p:nvPr/>
        </p:nvSpPr>
        <p:spPr>
          <a:xfrm rot="0" flipH="false" flipV="false">
            <a:off x="1397000" y="5016500"/>
            <a:ext cx="4826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374151"/>
                </a:solidFill>
                <a:latin typeface="Noto Sans SC"/>
                <a:ea typeface="Noto Sans SC"/>
                <a:cs typeface="Noto Sans SC"/>
                <a:sym typeface="Noto Sans SC"/>
              </a:rPr>
              <a:t>精准轮廓：</a:t>
            </a:r>
            <a:r>
              <a:rPr lang="en-US" b="false" i="false" strike="noStrike" u="none" sz="1400">
                <a:solidFill>
                  <a:srgbClr val="374151"/>
                </a:solidFill>
                <a:latin typeface="Noto Sans SC"/>
                <a:ea typeface="Noto Sans SC"/>
                <a:cs typeface="Noto Sans SC"/>
                <a:sym typeface="Noto Sans SC"/>
              </a:rPr>
              <a:t>仅用1%标注，即可分割出完整轮廓。</a:t>
            </a:r>
            <a:endParaRPr lang="en-US" sz="1100"/>
          </a:p>
        </p:txBody>
      </p:sp>
      <p:pic>
        <p:nvPicPr>
          <p:cNvPr name="Picture 22" id="2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5016500"/>
            <a:ext cx="254000" cy="254000"/>
          </a:xfrm>
          <a:prstGeom prst="rect">
            <a:avLst/>
          </a:prstGeom>
        </p:spPr>
      </p:pic>
      <p:sp>
        <p:nvSpPr>
          <p:cNvPr name="AutoShape 23" id="23"/>
          <p:cNvSpPr/>
          <p:nvPr/>
        </p:nvSpPr>
        <p:spPr>
          <a:xfrm rot="0" flipH="false" flipV="false">
            <a:off x="6731000" y="5016500"/>
            <a:ext cx="4826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374151"/>
                </a:solidFill>
                <a:latin typeface="Noto Sans SC"/>
                <a:ea typeface="Noto Sans SC"/>
                <a:cs typeface="Noto Sans SC"/>
                <a:sym typeface="Noto Sans SC"/>
              </a:rPr>
              <a:t>复杂场景：</a:t>
            </a:r>
            <a:r>
              <a:rPr lang="en-US" b="false" i="false" strike="noStrike" u="none" sz="1400">
                <a:solidFill>
                  <a:srgbClr val="374151"/>
                </a:solidFill>
                <a:latin typeface="Noto Sans SC"/>
                <a:ea typeface="Noto Sans SC"/>
                <a:cs typeface="Noto Sans SC"/>
                <a:sym typeface="Noto Sans SC"/>
              </a:rPr>
              <a:t>小目标、遮挡场景表现更优。</a:t>
            </a:r>
            <a:endParaRPr lang="en-US" sz="1100"/>
          </a:p>
        </p:txBody>
      </p:sp>
      <p:pic>
        <p:nvPicPr>
          <p:cNvPr name="Picture 24" id="2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651500"/>
            <a:ext cx="254000" cy="254000"/>
          </a:xfrm>
          <a:prstGeom prst="rect">
            <a:avLst/>
          </a:prstGeom>
        </p:spPr>
      </p:pic>
      <p:sp>
        <p:nvSpPr>
          <p:cNvPr name="AutoShape 25" id="25"/>
          <p:cNvSpPr/>
          <p:nvPr/>
        </p:nvSpPr>
        <p:spPr>
          <a:xfrm rot="0" flipH="false" flipV="false">
            <a:off x="1397000" y="5651500"/>
            <a:ext cx="4826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374151"/>
                </a:solidFill>
                <a:latin typeface="Noto Sans SC"/>
                <a:ea typeface="Noto Sans SC"/>
                <a:cs typeface="Noto Sans SC"/>
                <a:sym typeface="Noto Sans SC"/>
              </a:rPr>
              <a:t>超越基线：</a:t>
            </a:r>
            <a:r>
              <a:rPr lang="en-US" b="false" i="false" strike="noStrike" u="none" sz="1400">
                <a:solidFill>
                  <a:srgbClr val="374151"/>
                </a:solidFill>
                <a:latin typeface="Noto Sans SC"/>
                <a:ea typeface="Noto Sans SC"/>
                <a:cs typeface="Noto Sans SC"/>
                <a:sym typeface="Noto Sans SC"/>
              </a:rPr>
              <a:t>显著优于使用20%标注的半监督方法。</a:t>
            </a:r>
            <a:endParaRPr lang="en-US" sz="1100"/>
          </a:p>
        </p:txBody>
      </p: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5651500"/>
            <a:ext cx="254000" cy="254000"/>
          </a:xfrm>
          <a:prstGeom prst="rect">
            <a:avLst/>
          </a:prstGeom>
        </p:spPr>
      </p:pic>
      <p:sp>
        <p:nvSpPr>
          <p:cNvPr name="AutoShape 27" id="27"/>
          <p:cNvSpPr/>
          <p:nvPr/>
        </p:nvSpPr>
        <p:spPr>
          <a:xfrm rot="0" flipH="false" flipV="false">
            <a:off x="6731000" y="5651500"/>
            <a:ext cx="4826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374151"/>
                </a:solidFill>
                <a:latin typeface="Noto Sans SC"/>
                <a:ea typeface="Noto Sans SC"/>
                <a:cs typeface="Noto Sans SC"/>
                <a:sym typeface="Noto Sans SC"/>
              </a:rPr>
              <a:t>接近SOTA：</a:t>
            </a:r>
            <a:r>
              <a:rPr lang="en-US" b="false" i="false" strike="noStrike" u="none" sz="1400">
                <a:solidFill>
                  <a:srgbClr val="374151"/>
                </a:solidFill>
                <a:latin typeface="Noto Sans SC"/>
                <a:ea typeface="Noto Sans SC"/>
                <a:cs typeface="Noto Sans SC"/>
                <a:sym typeface="Noto Sans SC"/>
              </a:rPr>
              <a:t>结果媲美甚至超越全监督方法。</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0080"/>
                </a:solidFill>
                <a:latin typeface="Noto Sans SC"/>
                <a:ea typeface="Noto Sans SC"/>
                <a:cs typeface="Noto Sans SC"/>
                <a:sym typeface="Noto Sans SC"/>
              </a:rPr>
              <a:t>4. 实验结果：消融研究</a:t>
            </a:r>
            <a:endParaRPr lang="en-US" sz="1100"/>
          </a:p>
        </p:txBody>
      </p:sp>
      <p:cxnSp>
        <p:nvCxnSpPr>
          <p:cNvPr name="Connector 3" id="3"/>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1714500"/>
            <a:ext cx="9144000" cy="304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实验目的：验证我们提出的EDF（Edge Detail Fusion）和DPC（Dynamic Prompt Calibration）模块是否为性能提升的关键。</a:t>
            </a:r>
            <a:endParaRPr lang="en-US" sz="1100"/>
          </a:p>
        </p:txBody>
      </p:sp>
      <p:graphicFrame>
        <p:nvGraphicFramePr>
          <p:cNvPr name="Table 5" id="5"/>
          <p:cNvGraphicFramePr>
            <a:graphicFrameLocks noGrp="true"/>
          </p:cNvGraphicFramePr>
          <p:nvPr/>
        </p:nvGraphicFramePr>
        <p:xfrm>
          <a:off x="1016000" y="2286000"/>
          <a:ext cx="9144000" cy="2730500"/>
        </p:xfrm>
        <a:graphic>
          <a:graphicData uri="http://schemas.openxmlformats.org/drawingml/2006/table">
            <a:tbl>
              <a:tblPr>
                <a:effectLst/>
              </a:tblPr>
              <a:tblGrid>
                <a:gridCol w="5334000"/>
                <a:gridCol w="3810000"/>
              </a:tblGrid>
              <a:tr h="508000">
                <a:tc>
                  <a:txBody>
                    <a:bodyPr anchor="t" rtlCol="false"/>
                    <a:lstStyle/>
                    <a:p>
                      <a:pPr algn="ctr" indent="0">
                        <a:lnSpc>
                          <a:spcPct val="100000"/>
                        </a:lnSpc>
                        <a:defRPr/>
                      </a:pPr>
                      <a:r>
                        <a:rPr lang="en-US" b="true" i="false" strike="noStrike" u="none" sz="1600">
                          <a:solidFill>
                            <a:srgbClr val="1F2329"/>
                          </a:solidFill>
                          <a:latin typeface="Noto Sans SC"/>
                          <a:ea typeface="Noto Sans SC"/>
                          <a:cs typeface="Noto Sans SC"/>
                          <a:sym typeface="Noto Sans SC"/>
                        </a:rPr>
                        <a:t>模型变体</a:t>
                      </a:r>
                      <a:endParaRPr lang="en-US" sz="1100"/>
                    </a:p>
                  </a:txBody>
                  <a:tcPr anchor="ctr" anchorCtr="false" marL="101600" marR="101600" marT="101600" marB="101600">
                    <a:lnL cmpd="sng" algn="ctr" cap="flat" w="12700">
                      <a:solidFill>
                        <a:srgbClr val="D1D5DB"/>
                      </a:solidFill>
                      <a:prstDash val="solid"/>
                      <a:round/>
                      <a:headEnd type="none" w="med" len="med"/>
                      <a:tailEnd type="none" w="med" len="med"/>
                    </a:lnL>
                    <a:lnR>
                      <a:noFill/>
                    </a:lnR>
                    <a:lnT cmpd="sng" algn="ctr" cap="flat" w="12700">
                      <a:solidFill>
                        <a:srgbClr val="D1D5DB"/>
                      </a:solidFill>
                      <a:prstDash val="solid"/>
                      <a:round/>
                      <a:headEnd type="none" w="med" len="med"/>
                      <a:tailEnd type="none" w="med" len="med"/>
                    </a:lnT>
                    <a:lnB cmpd="sng" algn="ctr" cap="flat" w="12700">
                      <a:solidFill>
                        <a:srgbClr val="D1D5DB"/>
                      </a:solidFill>
                      <a:prstDash val="solid"/>
                      <a:round/>
                      <a:headEnd type="none" w="med" len="med"/>
                      <a:tailEnd type="none" w="med" len="med"/>
                    </a:lnB>
                    <a:solidFill>
                      <a:srgbClr val="F3F4F6">
                        <a:alpha val="100000"/>
                      </a:srgbClr>
                    </a:solidFill>
                  </a:tcPr>
                </a:tc>
                <a:tc>
                  <a:txBody>
                    <a:bodyPr anchor="t" rtlCol="false"/>
                    <a:lstStyle/>
                    <a:p>
                      <a:pPr algn="ctr" indent="0">
                        <a:lnSpc>
                          <a:spcPct val="100000"/>
                        </a:lnSpc>
                        <a:defRPr/>
                      </a:pPr>
                      <a:r>
                        <a:rPr lang="en-US" b="true" i="false" strike="noStrike" u="none" sz="1600">
                          <a:solidFill>
                            <a:srgbClr val="1F2329"/>
                          </a:solidFill>
                          <a:latin typeface="Noto Sans SC"/>
                          <a:ea typeface="Noto Sans SC"/>
                          <a:cs typeface="Noto Sans SC"/>
                          <a:sym typeface="Noto Sans SC"/>
                        </a:rPr>
                        <a:t>Fβ^ω (%)</a:t>
                      </a:r>
                      <a:endParaRPr lang="en-US" sz="1100"/>
                    </a:p>
                  </a:txBody>
                  <a:tcPr anchor="ctr" anchorCtr="false" marL="101600" marR="101600" marT="101600" marB="101600">
                    <a:lnL>
                      <a:noFill/>
                    </a:lnL>
                    <a:lnR cmpd="sng" algn="ctr" cap="flat" w="12700">
                      <a:solidFill>
                        <a:srgbClr val="D1D5DB"/>
                      </a:solidFill>
                      <a:prstDash val="solid"/>
                      <a:round/>
                      <a:headEnd type="none" w="med" len="med"/>
                      <a:tailEnd type="none" w="med" len="med"/>
                    </a:lnR>
                    <a:lnT cmpd="sng" algn="ctr" cap="flat" w="12700">
                      <a:solidFill>
                        <a:srgbClr val="D1D5DB"/>
                      </a:solidFill>
                      <a:prstDash val="solid"/>
                      <a:round/>
                      <a:headEnd type="none" w="med" len="med"/>
                      <a:tailEnd type="none" w="med" len="med"/>
                    </a:lnT>
                    <a:lnB cmpd="sng" algn="ctr" cap="flat" w="12700">
                      <a:solidFill>
                        <a:srgbClr val="D1D5DB"/>
                      </a:solidFill>
                      <a:prstDash val="solid"/>
                      <a:round/>
                      <a:headEnd type="none" w="med" len="med"/>
                      <a:tailEnd type="none" w="med" len="med"/>
                    </a:lnB>
                    <a:solidFill>
                      <a:srgbClr val="F3F4F6">
                        <a:alpha val="100000"/>
                      </a:srgbClr>
                    </a:solidFill>
                  </a:tcPr>
                </a:tc>
              </a:tr>
              <a:tr h="444500">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Baseline (1% DL)</a:t>
                      </a:r>
                      <a:endParaRPr lang="en-US" sz="1100"/>
                    </a:p>
                  </a:txBody>
                  <a:tcPr anchor="ctr" anchorCtr="false" marL="101600" marR="101600" marT="101600" marB="101600">
                    <a:lnL cmpd="sng" algn="ctr" cap="flat" w="12700">
                      <a:solidFill>
                        <a:srgbClr val="D1D5DB"/>
                      </a:solidFill>
                      <a:prstDash val="solid"/>
                      <a:round/>
                      <a:headEnd type="none" w="med" len="med"/>
                      <a:tailEnd type="none" w="med" len="med"/>
                    </a:lnL>
                    <a:lnR>
                      <a:noFill/>
                    </a:lnR>
                    <a:lnT cmpd="sng" algn="ctr" cap="flat" w="12700">
                      <a:solidFill>
                        <a:srgbClr val="D1D5D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65.2</a:t>
                      </a:r>
                      <a:endParaRPr lang="en-US" sz="1100"/>
                    </a:p>
                  </a:txBody>
                  <a:tcPr anchor="ctr" anchorCtr="false" marL="101600" marR="101600" marT="101600" marB="101600">
                    <a:lnL>
                      <a:noFill/>
                    </a:lnL>
                    <a:lnR cmpd="sng" algn="ctr" cap="flat" w="12700">
                      <a:solidFill>
                        <a:srgbClr val="D1D5DB"/>
                      </a:solidFill>
                      <a:prstDash val="solid"/>
                      <a:round/>
                      <a:headEnd type="none" w="med" len="med"/>
                      <a:tailEnd type="none" w="med" len="med"/>
                    </a:lnR>
                    <a:lnT cmpd="sng" algn="ctr" cap="flat" w="12700">
                      <a:solidFill>
                        <a:srgbClr val="D1D5D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444500">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 Self-Training</a:t>
                      </a:r>
                      <a:endParaRPr lang="en-US" sz="1100"/>
                    </a:p>
                  </a:txBody>
                  <a:tcPr anchor="ctr" anchorCtr="false" marL="101600" marR="101600" marT="101600" marB="101600">
                    <a:lnL cmpd="sng" algn="ctr" cap="flat" w="12700">
                      <a:solidFill>
                        <a:srgbClr val="D1D5DB"/>
                      </a:solidFill>
                      <a:prstDash val="solid"/>
                      <a:round/>
                      <a:headEnd type="none" w="med" len="med"/>
                      <a:tailEnd type="none" w="med" len="med"/>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68.9</a:t>
                      </a:r>
                      <a:endParaRPr lang="en-US" sz="1100"/>
                    </a:p>
                  </a:txBody>
                  <a:tcPr anchor="ctr" anchorCtr="false" marL="101600" marR="101600" marT="101600" marB="101600">
                    <a:lnL>
                      <a:noFill/>
                    </a:lnL>
                    <a:lnR cmpd="sng" algn="ctr" cap="flat" w="12700">
                      <a:solidFill>
                        <a:srgbClr val="D1D5D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444500">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 EDF Module</a:t>
                      </a:r>
                      <a:endParaRPr lang="en-US" sz="1100"/>
                    </a:p>
                  </a:txBody>
                  <a:tcPr anchor="ctr" anchorCtr="false" marL="101600" marR="101600" marT="101600" marB="101600">
                    <a:lnL cmpd="sng" algn="ctr" cap="flat" w="12700">
                      <a:solidFill>
                        <a:srgbClr val="D1D5DB"/>
                      </a:solidFill>
                      <a:prstDash val="solid"/>
                      <a:round/>
                      <a:headEnd type="none" w="med" len="med"/>
                      <a:tailEnd type="none" w="med" len="med"/>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0B981"/>
                          </a:solidFill>
                          <a:latin typeface="Noto Sans SC"/>
                          <a:ea typeface="Noto Sans SC"/>
                          <a:cs typeface="Noto Sans SC"/>
                          <a:sym typeface="Noto Sans SC"/>
                        </a:rPr>
                        <a:t>72.5</a:t>
                      </a:r>
                      <a:endParaRPr lang="en-US" sz="1100"/>
                    </a:p>
                  </a:txBody>
                  <a:tcPr anchor="ctr" anchorCtr="false" marL="101600" marR="101600" marT="101600" marB="101600">
                    <a:lnL>
                      <a:noFill/>
                    </a:lnL>
                    <a:lnR cmpd="sng" algn="ctr" cap="flat" w="12700">
                      <a:solidFill>
                        <a:srgbClr val="D1D5D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444500">
                <a:tc>
                  <a:txBody>
                    <a:bodyPr anchor="t" rtlCol="false"/>
                    <a:lstStyle/>
                    <a:p>
                      <a:pPr algn="ctr" indent="0">
                        <a:lnSpc>
                          <a:spcPct val="100000"/>
                        </a:lnSpc>
                        <a:defRPr/>
                      </a:pPr>
                      <a:r>
                        <a:rPr lang="en-US" b="false" i="false" strike="noStrike" u="none" sz="1400">
                          <a:solidFill>
                            <a:srgbClr val="374151"/>
                          </a:solidFill>
                          <a:latin typeface="Noto Sans SC"/>
                          <a:ea typeface="Noto Sans SC"/>
                          <a:cs typeface="Noto Sans SC"/>
                          <a:sym typeface="Noto Sans SC"/>
                        </a:rPr>
                        <a:t>+ DPC Module</a:t>
                      </a:r>
                      <a:endParaRPr lang="en-US" sz="1100"/>
                    </a:p>
                  </a:txBody>
                  <a:tcPr anchor="ctr" anchorCtr="false" marL="101600" marR="101600" marT="101600" marB="101600">
                    <a:lnL cmpd="sng" algn="ctr" cap="flat" w="12700">
                      <a:solidFill>
                        <a:srgbClr val="D1D5DB"/>
                      </a:solidFill>
                      <a:prstDash val="solid"/>
                      <a:round/>
                      <a:headEnd type="none" w="med" len="med"/>
                      <a:tailEnd type="none" w="med" len="med"/>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10B981"/>
                          </a:solidFill>
                          <a:latin typeface="Noto Sans SC"/>
                          <a:ea typeface="Noto Sans SC"/>
                          <a:cs typeface="Noto Sans SC"/>
                          <a:sym typeface="Noto Sans SC"/>
                        </a:rPr>
                        <a:t>74.1</a:t>
                      </a:r>
                      <a:endParaRPr lang="en-US" sz="1100"/>
                    </a:p>
                  </a:txBody>
                  <a:tcPr anchor="ctr" anchorCtr="false" marL="101600" marR="101600" marT="101600" marB="101600">
                    <a:lnL>
                      <a:noFill/>
                    </a:lnL>
                    <a:lnR cmpd="sng" algn="ctr" cap="flat" w="12700">
                      <a:solidFill>
                        <a:srgbClr val="D1D5D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444500">
                <a:tc>
                  <a:txBody>
                    <a:bodyPr anchor="t" rtlCol="false"/>
                    <a:lstStyle/>
                    <a:p>
                      <a:pPr algn="ctr" indent="0">
                        <a:lnSpc>
                          <a:spcPct val="100000"/>
                        </a:lnSpc>
                        <a:defRPr/>
                      </a:pPr>
                      <a:r>
                        <a:rPr lang="en-US" b="true" i="false" strike="noStrike" u="none" sz="1400">
                          <a:solidFill>
                            <a:srgbClr val="000080"/>
                          </a:solidFill>
                          <a:latin typeface="Noto Sans SC"/>
                          <a:ea typeface="Noto Sans SC"/>
                          <a:cs typeface="Noto Sans SC"/>
                          <a:sym typeface="Noto Sans SC"/>
                        </a:rPr>
                        <a:t>ST-SAM (Full)</a:t>
                      </a:r>
                      <a:endParaRPr lang="en-US" sz="1100"/>
                    </a:p>
                  </a:txBody>
                  <a:tcPr anchor="ctr" anchorCtr="false" marL="101600" marR="101600" marT="101600" marB="101600">
                    <a:lnL cmpd="sng" algn="ctr" cap="flat" w="12700">
                      <a:solidFill>
                        <a:srgbClr val="D1D5DB"/>
                      </a:solidFill>
                      <a:prstDash val="solid"/>
                      <a:round/>
                      <a:headEnd type="none" w="med" len="med"/>
                      <a:tailEnd type="none" w="med" len="med"/>
                    </a:lnL>
                    <a:lnR>
                      <a:noFill/>
                    </a:lnR>
                    <a:lnT cmpd="sng" algn="ctr" cap="flat" w="12700">
                      <a:solidFill>
                        <a:srgbClr val="E5E7EB"/>
                      </a:solidFill>
                      <a:prstDash val="solid"/>
                      <a:round/>
                      <a:headEnd type="none" w="med" len="med"/>
                      <a:tailEnd type="none" w="med" len="med"/>
                    </a:lnT>
                    <a:lnB cmpd="sng" algn="ctr" cap="flat" w="12700">
                      <a:solidFill>
                        <a:srgbClr val="D1D5DB"/>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EF4444"/>
                          </a:solidFill>
                          <a:latin typeface="Noto Sans SC"/>
                          <a:ea typeface="Noto Sans SC"/>
                          <a:cs typeface="Noto Sans SC"/>
                          <a:sym typeface="Noto Sans SC"/>
                        </a:rPr>
                        <a:t>78.6</a:t>
                      </a:r>
                      <a:endParaRPr lang="en-US" sz="1100"/>
                    </a:p>
                  </a:txBody>
                  <a:tcPr anchor="ctr" anchorCtr="false" marL="101600" marR="101600" marT="101600" marB="101600">
                    <a:lnL>
                      <a:noFill/>
                    </a:lnL>
                    <a:lnR cmpd="sng" algn="ctr" cap="flat" w="12700">
                      <a:solidFill>
                        <a:srgbClr val="D1D5DB"/>
                      </a:solidFill>
                      <a:prstDash val="solid"/>
                      <a:round/>
                      <a:headEnd type="none" w="med" len="med"/>
                      <a:tailEnd type="none" w="med" len="med"/>
                    </a:lnR>
                    <a:lnT cmpd="sng" algn="ctr" cap="flat" w="12700">
                      <a:solidFill>
                        <a:srgbClr val="E5E7EB"/>
                      </a:solidFill>
                      <a:prstDash val="solid"/>
                      <a:round/>
                      <a:headEnd type="none" w="med" len="med"/>
                      <a:tailEnd type="none" w="med" len="med"/>
                    </a:lnT>
                    <a:lnB cmpd="sng" algn="ctr" cap="flat" w="12700">
                      <a:solidFill>
                        <a:srgbClr val="D1D5DB"/>
                      </a:solidFill>
                      <a:prstDash val="solid"/>
                      <a:round/>
                      <a:headEnd type="none" w="med" len="med"/>
                      <a:tailEnd type="none" w="med" len="med"/>
                    </a:lnB>
                    <a:noFill/>
                  </a:tcPr>
                </a:tc>
              </a:tr>
            </a:tbl>
          </a:graphicData>
        </a:graphic>
      </p:graphicFrame>
      <p:sp>
        <p:nvSpPr>
          <p:cNvPr name="AutoShape 6" id="6"/>
          <p:cNvSpPr/>
          <p:nvPr/>
        </p:nvSpPr>
        <p:spPr>
          <a:xfrm rot="0" flipH="false" flipV="false">
            <a:off x="1016000" y="5397500"/>
            <a:ext cx="9144000" cy="304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600">
                <a:solidFill>
                  <a:srgbClr val="000080"/>
                </a:solidFill>
                <a:latin typeface="Noto Sans SC"/>
                <a:ea typeface="Noto Sans SC"/>
                <a:cs typeface="Noto Sans SC"/>
                <a:sym typeface="Noto Sans SC"/>
              </a:rPr>
              <a:t>核心发现</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842000"/>
            <a:ext cx="203200" cy="203200"/>
          </a:xfrm>
          <a:prstGeom prst="rect">
            <a:avLst/>
          </a:prstGeom>
        </p:spPr>
      </p:pic>
      <p:sp>
        <p:nvSpPr>
          <p:cNvPr name="AutoShape 8" id="8"/>
          <p:cNvSpPr/>
          <p:nvPr/>
        </p:nvSpPr>
        <p:spPr>
          <a:xfrm rot="0" flipH="false" flipV="false">
            <a:off x="1320800" y="5816600"/>
            <a:ext cx="8636000" cy="2794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加入EDF或DPC模块后，性能均有显著提升，证明了两个模块的有效性。</a:t>
            </a:r>
            <a:endParaRPr lang="en-US" sz="1100"/>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6223000"/>
            <a:ext cx="203200" cy="203200"/>
          </a:xfrm>
          <a:prstGeom prst="rect">
            <a:avLst/>
          </a:prstGeom>
        </p:spPr>
      </p:pic>
      <p:sp>
        <p:nvSpPr>
          <p:cNvPr name="AutoShape 10" id="10"/>
          <p:cNvSpPr/>
          <p:nvPr/>
        </p:nvSpPr>
        <p:spPr>
          <a:xfrm rot="0" flipH="false" flipV="false">
            <a:off x="1320800" y="6197600"/>
            <a:ext cx="8636000" cy="2794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完整的ST-SAM模型取得了最佳性能，证明了两个模块的协同作用。</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0080"/>
                </a:solidFill>
                <a:latin typeface="Noto Sans SC"/>
                <a:ea typeface="Noto Sans SC"/>
                <a:cs typeface="Noto Sans SC"/>
                <a:sym typeface="Noto Sans SC"/>
              </a:rPr>
              <a:t>5. 结论与展望</a:t>
            </a:r>
            <a:endParaRPr lang="en-US" sz="1100"/>
          </a:p>
        </p:txBody>
      </p:sp>
      <p:cxnSp>
        <p:nvCxnSpPr>
          <p:cNvPr name="Connector 3" id="3"/>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1016000" y="18415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80"/>
                </a:solidFill>
                <a:latin typeface="Noto Sans SC"/>
                <a:ea typeface="Noto Sans SC"/>
                <a:cs typeface="Noto Sans SC"/>
                <a:sym typeface="Noto Sans SC"/>
              </a:rPr>
              <a:t>主要贡献 (Conclusion)</a:t>
            </a:r>
            <a:endParaRPr lang="en-US" sz="1100"/>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413000"/>
            <a:ext cx="304800" cy="304800"/>
          </a:xfrm>
          <a:prstGeom prst="rect">
            <a:avLst/>
          </a:prstGeom>
        </p:spPr>
      </p:pic>
      <p:sp>
        <p:nvSpPr>
          <p:cNvPr name="AutoShape 6" id="6"/>
          <p:cNvSpPr/>
          <p:nvPr/>
        </p:nvSpPr>
        <p:spPr>
          <a:xfrm rot="0" flipH="false" flipV="false">
            <a:off x="1524000" y="24130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新范式</a:t>
            </a:r>
            <a:endParaRPr lang="en-US" sz="1100"/>
          </a:p>
        </p:txBody>
      </p:sp>
      <p:sp>
        <p:nvSpPr>
          <p:cNvPr name="AutoShape 7" id="7"/>
          <p:cNvSpPr/>
          <p:nvPr/>
        </p:nvSpPr>
        <p:spPr>
          <a:xfrm rot="0" flipH="false" flipV="false">
            <a:off x="1524000" y="2794000"/>
            <a:ext cx="457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首次将自训练策略与SAM结合，为半监督伪装目标检测提供了新范式。</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606800"/>
            <a:ext cx="304800" cy="304800"/>
          </a:xfrm>
          <a:prstGeom prst="rect">
            <a:avLst/>
          </a:prstGeom>
        </p:spPr>
      </p:pic>
      <p:sp>
        <p:nvSpPr>
          <p:cNvPr name="AutoShape 9" id="9"/>
          <p:cNvSpPr/>
          <p:nvPr/>
        </p:nvSpPr>
        <p:spPr>
          <a:xfrm rot="0" flipH="false" flipV="false">
            <a:off x="1524000" y="36068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高效性</a:t>
            </a:r>
            <a:endParaRPr lang="en-US" sz="1100"/>
          </a:p>
        </p:txBody>
      </p:sp>
      <p:sp>
        <p:nvSpPr>
          <p:cNvPr name="AutoShape 10" id="10"/>
          <p:cNvSpPr/>
          <p:nvPr/>
        </p:nvSpPr>
        <p:spPr>
          <a:xfrm rot="0" flipH="false" flipV="false">
            <a:off x="1524000" y="3987800"/>
            <a:ext cx="457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仅用1%标注数据即超越SOTA，极大降低了对标注数据的依赖。</a:t>
            </a:r>
            <a:endParaRPr lang="en-US" sz="1100"/>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800600"/>
            <a:ext cx="304800" cy="304800"/>
          </a:xfrm>
          <a:prstGeom prst="rect">
            <a:avLst/>
          </a:prstGeom>
        </p:spPr>
      </p:pic>
      <p:sp>
        <p:nvSpPr>
          <p:cNvPr name="AutoShape 12" id="12"/>
          <p:cNvSpPr/>
          <p:nvPr/>
        </p:nvSpPr>
        <p:spPr>
          <a:xfrm rot="0" flipH="false" flipV="false">
            <a:off x="1524000" y="48006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强扩展性</a:t>
            </a:r>
            <a:endParaRPr lang="en-US" sz="1100"/>
          </a:p>
        </p:txBody>
      </p:sp>
      <p:sp>
        <p:nvSpPr>
          <p:cNvPr name="AutoShape 13" id="13"/>
          <p:cNvSpPr/>
          <p:nvPr/>
        </p:nvSpPr>
        <p:spPr>
          <a:xfrm rot="0" flipH="false" flipV="false">
            <a:off x="1524000" y="5181600"/>
            <a:ext cx="457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框架不依赖特定网络或损失函数，具有很强的通用性和灵活性。</a:t>
            </a:r>
            <a:endParaRPr lang="en-US" sz="1100"/>
          </a:p>
        </p:txBody>
      </p:sp>
      <p:cxnSp>
        <p:nvCxnSpPr>
          <p:cNvPr name="Connector 14" id="14"/>
          <p:cNvCxnSpPr/>
          <p:nvPr/>
        </p:nvCxnSpPr>
        <p:spPr>
          <a:xfrm rot="5388802" flipH="false" flipV="false">
            <a:off x="4146550" y="3784610"/>
            <a:ext cx="3898900" cy="12700"/>
          </a:xfrm>
          <a:prstGeom prst="straightConnector1">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15" id="15"/>
          <p:cNvSpPr/>
          <p:nvPr/>
        </p:nvSpPr>
        <p:spPr>
          <a:xfrm rot="0" flipH="false" flipV="false">
            <a:off x="6604000" y="1841500"/>
            <a:ext cx="508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0080"/>
                </a:solidFill>
                <a:latin typeface="Noto Sans SC"/>
                <a:ea typeface="Noto Sans SC"/>
                <a:cs typeface="Noto Sans SC"/>
                <a:sym typeface="Noto Sans SC"/>
              </a:rPr>
              <a:t>未来展望 (Future Work)</a:t>
            </a:r>
            <a:endParaRPr lang="en-US" sz="1100"/>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2413000"/>
            <a:ext cx="304800" cy="304800"/>
          </a:xfrm>
          <a:prstGeom prst="rect">
            <a:avLst/>
          </a:prstGeom>
        </p:spPr>
      </p:pic>
      <p:sp>
        <p:nvSpPr>
          <p:cNvPr name="AutoShape 17" id="17"/>
          <p:cNvSpPr/>
          <p:nvPr/>
        </p:nvSpPr>
        <p:spPr>
          <a:xfrm rot="0" flipH="false" flipV="false">
            <a:off x="7112000" y="24130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更复杂场景</a:t>
            </a:r>
            <a:endParaRPr lang="en-US" sz="1100"/>
          </a:p>
        </p:txBody>
      </p:sp>
      <p:sp>
        <p:nvSpPr>
          <p:cNvPr name="AutoShape 18" id="18"/>
          <p:cNvSpPr/>
          <p:nvPr/>
        </p:nvSpPr>
        <p:spPr>
          <a:xfrm rot="0" flipH="false" flipV="false">
            <a:off x="7112000" y="2794000"/>
            <a:ext cx="457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探索在视频伪装目标检测等更复杂动态场景中的应用。</a:t>
            </a:r>
            <a:endParaRPr lang="en-US" sz="1100"/>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04000" y="3606800"/>
            <a:ext cx="304800" cy="304800"/>
          </a:xfrm>
          <a:prstGeom prst="rect">
            <a:avLst/>
          </a:prstGeom>
        </p:spPr>
      </p:pic>
      <p:sp>
        <p:nvSpPr>
          <p:cNvPr name="AutoShape 20" id="20"/>
          <p:cNvSpPr/>
          <p:nvPr/>
        </p:nvSpPr>
        <p:spPr>
          <a:xfrm rot="0" flipH="false" flipV="false">
            <a:off x="7112000" y="36068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提示工程</a:t>
            </a:r>
            <a:endParaRPr lang="en-US" sz="1100"/>
          </a:p>
        </p:txBody>
      </p:sp>
      <p:sp>
        <p:nvSpPr>
          <p:cNvPr name="AutoShape 21" id="21"/>
          <p:cNvSpPr/>
          <p:nvPr/>
        </p:nvSpPr>
        <p:spPr>
          <a:xfrm rot="0" flipH="false" flipV="false">
            <a:off x="7112000" y="3987800"/>
            <a:ext cx="457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研究更有效的提示生成策略，进一步提升SAM的任务性能。</a:t>
            </a:r>
            <a:endParaRPr lang="en-US" sz="1100"/>
          </a:p>
        </p:txBody>
      </p:sp>
      <p:pic>
        <p:nvPicPr>
          <p:cNvPr name="Picture 22" id="2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04000" y="4800600"/>
            <a:ext cx="304800" cy="304800"/>
          </a:xfrm>
          <a:prstGeom prst="rect">
            <a:avLst/>
          </a:prstGeom>
        </p:spPr>
      </p:pic>
      <p:sp>
        <p:nvSpPr>
          <p:cNvPr name="AutoShape 23" id="23"/>
          <p:cNvSpPr/>
          <p:nvPr/>
        </p:nvSpPr>
        <p:spPr>
          <a:xfrm rot="0" flipH="false" flipV="false">
            <a:off x="7112000" y="48006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减少计算量</a:t>
            </a:r>
            <a:endParaRPr lang="en-US" sz="1100"/>
          </a:p>
        </p:txBody>
      </p:sp>
      <p:sp>
        <p:nvSpPr>
          <p:cNvPr name="AutoShape 24" id="24"/>
          <p:cNvSpPr/>
          <p:nvPr/>
        </p:nvSpPr>
        <p:spPr>
          <a:xfrm rot="0" flipH="false" flipV="false">
            <a:off x="7112000" y="5181600"/>
            <a:ext cx="4572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探索轻量级SAM变体或蒸馏策略，降低模型计算开销。</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2286000"/>
            <a:ext cx="109728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0080"/>
                </a:solidFill>
                <a:latin typeface="Noto Sans SC"/>
                <a:ea typeface="Noto Sans SC"/>
                <a:cs typeface="Noto Sans SC"/>
                <a:sym typeface="Noto Sans SC"/>
              </a:rPr>
              <a:t>Q&amp;A / Thank You</a:t>
            </a:r>
            <a:endParaRPr lang="en-US" sz="1100"/>
          </a:p>
        </p:txBody>
      </p:sp>
      <p:cxnSp>
        <p:nvCxnSpPr>
          <p:cNvPr name="Connector 3" id="3"/>
          <p:cNvCxnSpPr/>
          <p:nvPr/>
        </p:nvCxnSpPr>
        <p:spPr>
          <a:xfrm rot="-17188" flipH="false" flipV="false">
            <a:off x="4826016" y="3295650"/>
            <a:ext cx="2540000" cy="12700"/>
          </a:xfrm>
          <a:prstGeom prst="straightConnector1">
            <a:avLst/>
          </a:prstGeom>
          <a:solidFill>
            <a:srgbClr val="DEE0E3">
              <a:alpha val="100000"/>
            </a:srgbClr>
          </a:solidFill>
          <a:ln w="25400" cmpd="sng" cap="flat">
            <a:solidFill>
              <a:srgbClr val="D1D5DB">
                <a:alpha val="100000"/>
              </a:srgbClr>
            </a:solidFill>
            <a:prstDash val="solid"/>
            <a:round/>
            <a:headEnd type="none" w="lg" len="lg"/>
            <a:tailEnd type="none" w="lg" len="lg"/>
          </a:ln>
        </p:spPr>
      </p:cxn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3556000" y="3810000"/>
            <a:ext cx="304800" cy="304800"/>
          </a:xfrm>
          <a:prstGeom prst="rect">
            <a:avLst/>
          </a:prstGeom>
        </p:spPr>
      </p:pic>
      <p:sp>
        <p:nvSpPr>
          <p:cNvPr name="AutoShape 5" id="5"/>
          <p:cNvSpPr/>
          <p:nvPr/>
        </p:nvSpPr>
        <p:spPr>
          <a:xfrm rot="0" flipH="false" flipV="false">
            <a:off x="4064000" y="3810000"/>
            <a:ext cx="508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374151"/>
                </a:solidFill>
                <a:latin typeface="Noto Sans SC"/>
                <a:ea typeface="Noto Sans SC"/>
                <a:cs typeface="Noto Sans SC"/>
                <a:sym typeface="Noto Sans SC"/>
              </a:rPr>
              <a:t>代码仓库: https://github.com/hu-xh/ST-SAM</a:t>
            </a:r>
            <a:endParaRPr lang="en-US" sz="1100"/>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556000" y="4445000"/>
            <a:ext cx="304800" cy="304800"/>
          </a:xfrm>
          <a:prstGeom prst="rect">
            <a:avLst/>
          </a:prstGeom>
        </p:spPr>
      </p:pic>
      <p:sp>
        <p:nvSpPr>
          <p:cNvPr name="AutoShape 7" id="7"/>
          <p:cNvSpPr/>
          <p:nvPr/>
        </p:nvSpPr>
        <p:spPr>
          <a:xfrm rot="0" flipH="false" flipV="false">
            <a:off x="4064000" y="4445000"/>
            <a:ext cx="508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374151"/>
                </a:solidFill>
                <a:latin typeface="Noto Sans SC"/>
                <a:ea typeface="Noto Sans SC"/>
                <a:cs typeface="Noto Sans SC"/>
                <a:sym typeface="Noto Sans SC"/>
              </a:rPr>
              <a:t>联系方式: your.email@example.com</a:t>
            </a:r>
            <a:endParaRPr lang="en-US" sz="1100"/>
          </a:p>
        </p:txBody>
      </p:sp>
      <p:pic>
        <p:nvPicPr>
          <p:cNvPr name="Picture 8" id="8"/>
          <p:cNvPicPr>
            <a:picLocks noChangeAspect="true"/>
          </p:cNvPicPr>
          <p:nvPr/>
        </p:nvPicPr>
        <p:blipFill>
          <a:blip r:embed="rId7"/>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